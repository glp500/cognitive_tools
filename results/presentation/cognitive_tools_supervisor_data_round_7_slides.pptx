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11"/>
    <p:sldId id="257" r:id="rId13"/>
    <p:sldId id="258" r:id="rId14"/>
    <p:sldId id="259" r:id="rId15"/>
    <p:sldId id="260" r:id="rId16"/>
    <p:sldId id="261" r:id="rId17"/>
    <p:sldId id="262" r:id="rId18"/>
  </p:sldIdLst>
  <p:sldSz cx="18288000" cy="10287000"/>
  <p:notesSz cx="6858000" cy="9144000"/>
  <p:embeddedFontLst>
    <p:embeddedFont>
      <p:font typeface="Cy Grotesk V3 Key" charset="1" panose="00000500000000000000"/>
      <p:regular r:id="rId31"/>
    </p:embeddedFont>
    <p:embeddedFont>
      <p:font typeface="Canva Sans" charset="1" panose="020B0503030501040103"/>
      <p:regular r:id="rId32"/>
    </p:embeddedFont>
    <p:embeddedFont>
      <p:font typeface="Arial Bold" charset="1" panose="020B0704020202020204"/>
      <p:regular r:id="rId33"/>
    </p:embeddedFont>
    <p:embeddedFont>
      <p:font typeface="Arial" charset="1" panose="020B0604020202020204"/>
      <p:regular r:id="rId34"/>
    </p:embeddedFont>
    <p:embeddedFont>
      <p:font typeface="Arial Bold Italics" charset="1" panose="020B0704020202090204"/>
      <p:regular r:id="rId3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31" Type="http://schemas.openxmlformats.org/officeDocument/2006/relationships/font" Target="fonts/font31.fntdata"/><Relationship Id="rId32" Type="http://schemas.openxmlformats.org/officeDocument/2006/relationships/font" Target="fonts/font32.fntdata"/><Relationship Id="rId33" Type="http://schemas.openxmlformats.org/officeDocument/2006/relationships/font" Target="fonts/font33.fntdata"/><Relationship Id="rId34" Type="http://schemas.openxmlformats.org/officeDocument/2006/relationships/font" Target="fonts/font34.fntdata"/><Relationship Id="rId35" Type="http://schemas.openxmlformats.org/officeDocument/2006/relationships/font" Target="fonts/font3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obtain supervisor feedback on the clarity of the research questions, hypotheses and project structure. These are the confirmed frozen hypotheses in docs/ideas/ecology-perception-organization.md, not the older pilot hypothesis of a necessary sustainability improvement. H1 is nondirectional. H2 was informed by related work and the pilot. H3 predicts a difference, not necessarily an improvement. Collective organization means measurable population patterns, not conscious coordination. Secondary consequences are resource condition, reserve welfare and accumulated-harvest inequality.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schematic describes the feedback, not every implementation step. Agents observe previous source actions alongside local resource/capacity, choose extraction with independent tabular Q-learning, experience resource renewal, compare expected versus observed peer actions and may replace information sources. Surprise selects observers; removed and replacement sources are random conditional on the search rule. Local replacement is sources-of-sources in the information graph, not geographical proximity. Reward is realized harvest. Stationary locations, proportional allocation under scarcity and a 3×3 state representation restrict the behavioral mechanism. The review found 97.1% scarce-state occupancy in fresh-reset evaluation, 99.7% in continuation. These are diagnostics, not causal proof of a representation failure.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campaign ecology_perception_parallel_v1, source commit 2ac3a887f271874d9ff71726a3d0ed9e83601efc. Nine treatments: B0, S1, S2, R1/R2/R3 and their three matched R0 controls. Three ecologies, N=64, 100 replicates each, 5000 training and 1000 evaluation steps. Primary perception and organization outcomes average the 20 recorded checkpoints in 4000&lt;t≤5000 within replicate. Secondary outcomes use fresh-reset evaluation with frozen policies and terminal networks. R0 matches event counts and search scope, identifying observer selection conditional on the adaptive schedule. S2 changes attention capacity too. Maps are illustrative seed-42 capacity maps from the same scenario definitions, not observations from the full-run replicates. Split bundles changes in capacity, regeneration, equilibrium and spatial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uses primary_window_summary.csv, all eight social treatments and all ecologies. Error is the absolute difference between observed low-extraction fraction and prevalence among the other 63 agents. Mismatch excludes ties; tied comparisons are shown separately. S2−S1 error is +4.07 to +4.26 pp, but attention varies. Across ecology/scope pairs, adaptive−matched mismatch is −1.35 to −2.16 pp; all nine pointwise intervals exclude zero. MAE improves by 0.095 to 0.443 pp; seven of nine intervals exclude zero. Tie rates generally decrease too. The post-hoc exact hypergeometric four-peer baseline is 17.55–17.81 pp; fixed-attention observed-minus-baseline means range −0.273 to +0.210 pp. This diagnostic conditions on current population actions and is not a counterfactual training run. It excludes variable-attention S2. Reference: Lerman et al., The Majority Illusion in Social Networks, https://arxiv.org/abs/1506.03022. Complete paired results and sampling figures are in results/review/full_run_2026-09-29/.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uses primary_window_summary.csv. Display all nine treatments; B0 has no observation network and therefore no visibility-Gini point. Adaptive local−global visibility Gini is +0.116 to +0.123 across ecologies; matched random local−global is +0.114 to +0.123. This supports the scope prediction, not attribution of concentration to the surprise trigger. All nine adaptive−matched low-extraction intervals and visibility-Gini intervals include zero. This is not an equivalence conclusion. All figures use 100 independent replicates per condition, not agents as independent samples. Bootstrap intervals are pointwise percentile intervals from 5000 resamples, without multiplicity adjustment. Zoomed axes are deliberate.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uses outcome_summary.csv, all nine treatments and all three ecologies. Across eight social treatments, split−uniform welfare is −9.49 to −11.92 percentage points and wealth Gini +0.169 to +0.175. These are ranges of treatment-specific effects, not confidence intervals or pooled effects. Resource metric is mean local R/K, not total stock; a larger normalized fraction does not imply a richer ecology. R0 paired effects: all nine wealth-Gini intervals include zero, eight of nine welfare and eight of nine resource intervals include zero. The isolated positive intervals are unadjusted and do not establish broad benefit. The 72.3% fresh-reset versus 26.2% continuation welfare diagnostic equally weights 27 condition means. Reset restores ecology and full initial energy; it is not a pure energy intervention. Neither 1000-step evaluation establishes long-run sustainability. Existing values/paired means were independently checked against raw tables in the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separating conclusions from proposed future work. No migration or new simulation has been undertaken. Prospective hypothesis: information improves outcomes when it predicts ecological consequences relevant to the observer; population representativeness alone may be insufficient. A constrained option is one Commons Harvest substrate, one learner, two productivity-matched arrangements and informative versus shuffled social signals with equal attention. Define behavior over a fixed opportunity-aware window: inactivity in a movement/harvesting environment is not automatically cooperation. SocialJax offers GPU-oriented Harvest and IPPO/MAPPO baselines: https://github.com/cooperativex/SocialJax. Melting Pot is the benchmark-provenance alternative: https://github.com/google-deepmind/meltingpot. The older sequential_social_dilemma_games repository explicitly recommends Melting Pot. These are candidates, not locally benchmarked migration commitments. Full review: docs/reviews/full-run-review-2026-09-29.md. Ask the supervisor to select the scientific direction before adding mechanisms.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How does ecology shape perception and collective organization?</a:t>
            </a:r>
          </a:p>
        </p:txBody>
      </p:sp>
      <p:sp>
        <p:nvSpPr>
          <p:cNvPr id="3" name="TextBox 2"/>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4" name="TextBox 3"/>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1 / 7</a:t>
            </a:r>
          </a:p>
        </p:txBody>
      </p:sp>
      <p:sp>
        <p:nvSpPr>
          <p:cNvPr id="5" name="TextBox 4"/>
          <p:cNvSpPr txBox="1"/>
          <p:nvPr/>
        </p:nvSpPr>
        <p:spPr>
          <a:xfrm>
            <a:off x="914400" y="1874519"/>
            <a:ext cx="16276320" cy="1463040"/>
          </a:xfrm>
          <a:prstGeom prst="rect">
            <a:avLst/>
          </a:prstGeom>
          <a:noFill/>
        </p:spPr>
        <p:txBody>
          <a:bodyPr wrap="square" lIns="0" rIns="0" tIns="0" bIns="0">
            <a:spAutoFit/>
          </a:bodyPr>
          <a:lstStyle/>
          <a:p>
            <a:pPr algn="l">
              <a:spcAft>
                <a:spcPts val="400"/>
              </a:spcAft>
              <a:defRPr sz="3100" b="1">
                <a:solidFill>
                  <a:srgbClr val="111111"/>
                </a:solidFill>
                <a:latin typeface="Arial"/>
              </a:defRPr>
            </a:pPr>
            <a:r>
              <a:rPr sz="3100"/>
              <a:t>RQ1: When do local observations misrepresent population behavior?</a:t>
            </a:r>
          </a:p>
          <a:p>
            <a:pPr algn="l">
              <a:spcAft>
                <a:spcPts val="400"/>
              </a:spcAft>
              <a:defRPr sz="3100" b="1">
                <a:solidFill>
                  <a:srgbClr val="111111"/>
                </a:solidFill>
                <a:latin typeface="Arial"/>
              </a:defRPr>
            </a:pPr>
            <a:r>
              <a:rPr sz="3100"/>
              <a:t>RQ2: How do ecology and observation rules organize the population?</a:t>
            </a:r>
          </a:p>
        </p:txBody>
      </p:sp>
      <p:sp>
        <p:nvSpPr>
          <p:cNvPr id="6" name="Rectangle 5"/>
          <p:cNvSpPr/>
          <p:nvPr/>
        </p:nvSpPr>
        <p:spPr>
          <a:xfrm>
            <a:off x="914400" y="4069080"/>
            <a:ext cx="4709160" cy="24231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4069080"/>
            <a:ext cx="68580" cy="2423160"/>
          </a:xfrm>
          <a:prstGeom prst="rect">
            <a:avLst/>
          </a:prstGeom>
          <a:solidFill>
            <a:srgbClr val="31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4712" y="425196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Local perception</a:t>
            </a:r>
          </a:p>
        </p:txBody>
      </p:sp>
      <p:sp>
        <p:nvSpPr>
          <p:cNvPr id="9" name="TextBox 8"/>
          <p:cNvSpPr txBox="1"/>
          <p:nvPr/>
        </p:nvSpPr>
        <p:spPr>
          <a:xfrm>
            <a:off x="1124712" y="5001768"/>
            <a:ext cx="4297680" cy="138988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What do selected peers do?</a:t>
            </a:r>
          </a:p>
          <a:p>
            <a:pPr algn="l">
              <a:spcAft>
                <a:spcPts val="400"/>
              </a:spcAft>
              <a:defRPr sz="2500" b="0">
                <a:solidFill>
                  <a:srgbClr val="111111"/>
                </a:solidFill>
                <a:latin typeface="Arial"/>
              </a:defRPr>
            </a:pPr>
            <a:r>
              <a:t>How representative is that view?</a:t>
            </a:r>
          </a:p>
        </p:txBody>
      </p:sp>
      <p:sp>
        <p:nvSpPr>
          <p:cNvPr id="10" name="Rectangle 9"/>
          <p:cNvSpPr/>
          <p:nvPr/>
        </p:nvSpPr>
        <p:spPr>
          <a:xfrm>
            <a:off x="6812280" y="4069080"/>
            <a:ext cx="4709160" cy="24231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12280" y="4069080"/>
            <a:ext cx="68580" cy="2423160"/>
          </a:xfrm>
          <a:prstGeom prst="rect">
            <a:avLst/>
          </a:prstGeom>
          <a:solidFill>
            <a:srgbClr val="218F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425196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Collective organization</a:t>
            </a:r>
          </a:p>
        </p:txBody>
      </p:sp>
      <p:sp>
        <p:nvSpPr>
          <p:cNvPr id="13" name="TextBox 12"/>
          <p:cNvSpPr txBox="1"/>
          <p:nvPr/>
        </p:nvSpPr>
        <p:spPr>
          <a:xfrm>
            <a:off x="7022592" y="5001768"/>
            <a:ext cx="4297680" cy="138988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Who becomes visible?</a:t>
            </a:r>
          </a:p>
          <a:p>
            <a:pPr algn="l">
              <a:spcAft>
                <a:spcPts val="400"/>
              </a:spcAft>
              <a:defRPr sz="2500" b="0">
                <a:solidFill>
                  <a:srgbClr val="111111"/>
                </a:solidFill>
                <a:latin typeface="Arial"/>
              </a:defRPr>
            </a:pPr>
            <a:r>
              <a:t>Which actions become common?</a:t>
            </a:r>
          </a:p>
        </p:txBody>
      </p:sp>
      <p:sp>
        <p:nvSpPr>
          <p:cNvPr id="14" name="Rectangle 13"/>
          <p:cNvSpPr/>
          <p:nvPr/>
        </p:nvSpPr>
        <p:spPr>
          <a:xfrm>
            <a:off x="12710160" y="4069080"/>
            <a:ext cx="4709160" cy="24231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2710160" y="4069080"/>
            <a:ext cx="68580" cy="2423160"/>
          </a:xfrm>
          <a:prstGeom prst="rect">
            <a:avLst/>
          </a:prstGeom>
          <a:solidFill>
            <a:srgbClr val="B887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920472" y="425196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Consequences</a:t>
            </a:r>
          </a:p>
        </p:txBody>
      </p:sp>
      <p:sp>
        <p:nvSpPr>
          <p:cNvPr id="17" name="TextBox 16"/>
          <p:cNvSpPr txBox="1"/>
          <p:nvPr/>
        </p:nvSpPr>
        <p:spPr>
          <a:xfrm>
            <a:off x="12920472" y="5001768"/>
            <a:ext cx="4297680" cy="138988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Resource condition</a:t>
            </a:r>
          </a:p>
          <a:p>
            <a:pPr algn="l">
              <a:spcAft>
                <a:spcPts val="400"/>
              </a:spcAft>
              <a:defRPr sz="2500" b="0">
                <a:solidFill>
                  <a:srgbClr val="111111"/>
                </a:solidFill>
                <a:latin typeface="Arial"/>
              </a:defRPr>
            </a:pPr>
            <a:r>
              <a:t>Welfare and inequality</a:t>
            </a:r>
          </a:p>
        </p:txBody>
      </p:sp>
      <p:cxnSp>
        <p:nvCxnSpPr>
          <p:cNvPr id="18" name="Connector 17"/>
          <p:cNvCxnSpPr/>
          <p:nvPr/>
        </p:nvCxnSpPr>
        <p:spPr>
          <a:xfrm>
            <a:off x="5779008" y="5166360"/>
            <a:ext cx="850392" cy="0"/>
          </a:xfrm>
          <a:prstGeom prst="line">
            <a:avLst/>
          </a:prstGeom>
          <a:ln w="27940">
            <a:solidFill>
              <a:srgbClr val="666666"/>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667744" y="5166360"/>
            <a:ext cx="859536" cy="0"/>
          </a:xfrm>
          <a:prstGeom prst="line">
            <a:avLst/>
          </a:prstGeom>
          <a:ln w="27940">
            <a:solidFill>
              <a:srgbClr val="666666"/>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6995160"/>
            <a:ext cx="5486400" cy="548640"/>
          </a:xfrm>
          <a:prstGeom prst="rect">
            <a:avLst/>
          </a:prstGeom>
          <a:noFill/>
        </p:spPr>
        <p:txBody>
          <a:bodyPr wrap="square" lIns="0" rIns="0" tIns="0" bIns="0">
            <a:spAutoFit/>
          </a:bodyPr>
          <a:lstStyle/>
          <a:p>
            <a:pPr algn="l">
              <a:spcAft>
                <a:spcPts val="400"/>
              </a:spcAft>
              <a:defRPr sz="2100" b="1">
                <a:solidFill>
                  <a:srgbClr val="31688E"/>
                </a:solidFill>
                <a:latin typeface="Arial"/>
              </a:defRPr>
            </a:pPr>
            <a:r>
              <a:rPr sz="2100"/>
              <a:t>FROZEN HYPOTHESES</a:t>
            </a:r>
          </a:p>
        </p:txBody>
      </p:sp>
      <p:sp>
        <p:nvSpPr>
          <p:cNvPr id="21" name="TextBox 20"/>
          <p:cNvSpPr txBox="1"/>
          <p:nvPr/>
        </p:nvSpPr>
        <p:spPr>
          <a:xfrm>
            <a:off x="914400" y="7635240"/>
            <a:ext cx="16459200" cy="1234440"/>
          </a:xfrm>
          <a:prstGeom prst="rect">
            <a:avLst/>
          </a:prstGeom>
          <a:noFill/>
        </p:spPr>
        <p:txBody>
          <a:bodyPr wrap="square" lIns="0" rIns="0" tIns="0" bIns="0">
            <a:spAutoFit/>
          </a:bodyPr>
          <a:lstStyle/>
          <a:p>
            <a:pPr algn="l">
              <a:spcAft>
                <a:spcPts val="400"/>
              </a:spcAft>
              <a:defRPr sz="2700" b="0">
                <a:solidFill>
                  <a:srgbClr val="111111"/>
                </a:solidFill>
                <a:latin typeface="Arial"/>
              </a:defRPr>
            </a:pPr>
            <a:r>
              <a:rPr sz="2700"/>
              <a:t>H1: perception varies with ecology. H2: local search concentrates visibility.</a:t>
            </a:r>
          </a:p>
          <a:p>
            <a:pPr algn="l">
              <a:spcAft>
                <a:spcPts val="400"/>
              </a:spcAft>
              <a:defRPr sz="2700" b="0">
                <a:solidFill>
                  <a:srgbClr val="111111"/>
                </a:solidFill>
                <a:latin typeface="Arial"/>
              </a:defRPr>
            </a:pPr>
            <a:r>
              <a:rPr sz="2700"/>
              <a:t>H3: adaptive selection changes perception relative to matched random turnover.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Population information feeds decisions about local resources</a:t>
            </a:r>
          </a:p>
        </p:txBody>
      </p:sp>
      <p:sp>
        <p:nvSpPr>
          <p:cNvPr id="3" name="TextBox 2"/>
          <p:cNvSpPr txBox="1"/>
          <p:nvPr/>
        </p:nvSpPr>
        <p:spPr>
          <a:xfrm>
            <a:off x="868680" y="1581912"/>
            <a:ext cx="16550640" cy="777240"/>
          </a:xfrm>
          <a:prstGeom prst="rect">
            <a:avLst/>
          </a:prstGeom>
          <a:noFill/>
        </p:spPr>
        <p:txBody>
          <a:bodyPr wrap="square" lIns="0" rIns="0" tIns="0" bIns="0">
            <a:spAutoFit/>
          </a:bodyPr>
          <a:lstStyle/>
          <a:p>
            <a:pPr algn="l">
              <a:spcAft>
                <a:spcPts val="400"/>
              </a:spcAft>
              <a:defRPr sz="2700" b="0">
                <a:solidFill>
                  <a:srgbClr val="666666"/>
                </a:solidFill>
                <a:latin typeface="Arial"/>
              </a:defRPr>
            </a:pPr>
            <a:r>
              <a:t>Agents stay in place; information links change. Population accuracy may not imply local usefulness.</a:t>
            </a:r>
          </a:p>
        </p:txBody>
      </p:sp>
      <p:sp>
        <p:nvSpPr>
          <p:cNvPr id="4" name="TextBox 3"/>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5" name="TextBox 4"/>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2 / 7</a:t>
            </a:r>
          </a:p>
        </p:txBody>
      </p:sp>
      <p:cxnSp>
        <p:nvCxnSpPr>
          <p:cNvPr id="6" name="Connector 5"/>
          <p:cNvCxnSpPr/>
          <p:nvPr/>
        </p:nvCxnSpPr>
        <p:spPr>
          <a:xfrm>
            <a:off x="1965960" y="3520440"/>
            <a:ext cx="1005840" cy="914400"/>
          </a:xfrm>
          <a:prstGeom prst="line">
            <a:avLst/>
          </a:prstGeom>
          <a:ln w="27940">
            <a:solidFill>
              <a:srgbClr val="A7A7A7"/>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971800" y="3520440"/>
            <a:ext cx="914400" cy="914400"/>
          </a:xfrm>
          <a:prstGeom prst="line">
            <a:avLst/>
          </a:prstGeom>
          <a:ln w="27940">
            <a:solidFill>
              <a:srgbClr val="A7A7A7"/>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965960" y="4434840"/>
            <a:ext cx="1005840" cy="960120"/>
          </a:xfrm>
          <a:prstGeom prst="line">
            <a:avLst/>
          </a:prstGeom>
          <a:ln w="27940">
            <a:solidFill>
              <a:srgbClr val="A7A7A7"/>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2971800" y="4434840"/>
            <a:ext cx="914400" cy="960120"/>
          </a:xfrm>
          <a:prstGeom prst="line">
            <a:avLst/>
          </a:prstGeom>
          <a:ln w="27940">
            <a:solidFill>
              <a:srgbClr val="218F8D"/>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0" y="3291840"/>
            <a:ext cx="502920" cy="502920"/>
          </a:xfrm>
          <a:prstGeom prst="ellipse">
            <a:avLst/>
          </a:prstGeom>
          <a:solidFill>
            <a:srgbClr val="316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57600" y="3291840"/>
            <a:ext cx="502920" cy="502920"/>
          </a:xfrm>
          <a:prstGeom prst="ellipse">
            <a:avLst/>
          </a:prstGeom>
          <a:solidFill>
            <a:srgbClr val="316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37360" y="5166360"/>
            <a:ext cx="502920" cy="502920"/>
          </a:xfrm>
          <a:prstGeom prst="ellipse">
            <a:avLst/>
          </a:prstGeom>
          <a:solidFill>
            <a:srgbClr val="316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57600" y="5166360"/>
            <a:ext cx="502920" cy="502920"/>
          </a:xfrm>
          <a:prstGeom prst="ellipse">
            <a:avLst/>
          </a:prstGeom>
          <a:solidFill>
            <a:srgbClr val="316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743200" y="4206240"/>
            <a:ext cx="502920" cy="502920"/>
          </a:xfrm>
          <a:prstGeom prst="ellipse">
            <a:avLst/>
          </a:prstGeom>
          <a:solidFill>
            <a:srgbClr val="218F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6537960"/>
            <a:ext cx="4434840" cy="1005840"/>
          </a:xfrm>
          <a:prstGeom prst="rect">
            <a:avLst/>
          </a:prstGeom>
          <a:noFill/>
        </p:spPr>
        <p:txBody>
          <a:bodyPr wrap="square" lIns="0" rIns="0" tIns="0" bIns="0">
            <a:spAutoFit/>
          </a:bodyPr>
          <a:lstStyle/>
          <a:p>
            <a:pPr algn="ctr">
              <a:spcAft>
                <a:spcPts val="400"/>
              </a:spcAft>
              <a:defRPr sz="2700" b="1">
                <a:solidFill>
                  <a:srgbClr val="111111"/>
                </a:solidFill>
                <a:latin typeface="Arial"/>
              </a:defRPr>
            </a:pPr>
            <a:r>
              <a:t>Observe previous actions</a:t>
            </a:r>
          </a:p>
          <a:p>
            <a:pPr algn="ctr">
              <a:spcAft>
                <a:spcPts val="400"/>
              </a:spcAft>
              <a:defRPr sz="2700" b="1">
                <a:solidFill>
                  <a:srgbClr val="111111"/>
                </a:solidFill>
                <a:latin typeface="Arial"/>
              </a:defRPr>
            </a:pPr>
            <a:r>
              <a:t>of a few selected sources</a:t>
            </a:r>
          </a:p>
        </p:txBody>
      </p:sp>
      <p:sp>
        <p:nvSpPr>
          <p:cNvPr id="16" name="TextBox 15"/>
          <p:cNvSpPr txBox="1"/>
          <p:nvPr/>
        </p:nvSpPr>
        <p:spPr>
          <a:xfrm>
            <a:off x="1143000" y="7744968"/>
            <a:ext cx="4297680" cy="822960"/>
          </a:xfrm>
          <a:prstGeom prst="rect">
            <a:avLst/>
          </a:prstGeom>
          <a:noFill/>
        </p:spPr>
        <p:txBody>
          <a:bodyPr wrap="square" lIns="0" rIns="0" tIns="0" bIns="0">
            <a:spAutoFit/>
          </a:bodyPr>
          <a:lstStyle/>
          <a:p>
            <a:pPr algn="ctr">
              <a:spcAft>
                <a:spcPts val="400"/>
              </a:spcAft>
              <a:defRPr sz="2000" b="0">
                <a:solidFill>
                  <a:srgbClr val="666666"/>
                </a:solidFill>
                <a:latin typeface="Arial"/>
              </a:defRPr>
            </a:pPr>
            <a:r>
              <a:t>Schematic: arrows carry</a:t>
            </a:r>
          </a:p>
          <a:p>
            <a:pPr algn="ctr">
              <a:spcAft>
                <a:spcPts val="400"/>
              </a:spcAft>
              <a:defRPr sz="2000" b="0">
                <a:solidFill>
                  <a:srgbClr val="666666"/>
                </a:solidFill>
                <a:latin typeface="Arial"/>
              </a:defRPr>
            </a:pPr>
            <a:r>
              <a:t>information to the focal agent.</a:t>
            </a:r>
          </a:p>
        </p:txBody>
      </p:sp>
      <p:sp>
        <p:nvSpPr>
          <p:cNvPr id="17" name="Rectangle 16"/>
          <p:cNvSpPr/>
          <p:nvPr/>
        </p:nvSpPr>
        <p:spPr>
          <a:xfrm>
            <a:off x="6400800" y="2834640"/>
            <a:ext cx="4709160" cy="21031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2834640"/>
            <a:ext cx="68580" cy="2103120"/>
          </a:xfrm>
          <a:prstGeom prst="rect">
            <a:avLst/>
          </a:prstGeom>
          <a:solidFill>
            <a:srgbClr val="31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11112" y="301752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Learn extraction</a:t>
            </a:r>
          </a:p>
        </p:txBody>
      </p:sp>
      <p:sp>
        <p:nvSpPr>
          <p:cNvPr id="20" name="TextBox 19"/>
          <p:cNvSpPr txBox="1"/>
          <p:nvPr/>
        </p:nvSpPr>
        <p:spPr>
          <a:xfrm>
            <a:off x="6611112" y="3767328"/>
            <a:ext cx="4297680" cy="106984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Local resource state +</a:t>
            </a:r>
          </a:p>
          <a:p>
            <a:pPr algn="l">
              <a:spcAft>
                <a:spcPts val="400"/>
              </a:spcAft>
              <a:defRPr sz="2500" b="0">
                <a:solidFill>
                  <a:srgbClr val="111111"/>
                </a:solidFill>
                <a:latin typeface="Arial"/>
              </a:defRPr>
            </a:pPr>
            <a:r>
              <a:t>observed peer behavior</a:t>
            </a:r>
          </a:p>
        </p:txBody>
      </p:sp>
      <p:sp>
        <p:nvSpPr>
          <p:cNvPr id="21" name="Rectangle 20"/>
          <p:cNvSpPr/>
          <p:nvPr/>
        </p:nvSpPr>
        <p:spPr>
          <a:xfrm>
            <a:off x="12527280" y="2834640"/>
            <a:ext cx="4709160" cy="21031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527280" y="2834640"/>
            <a:ext cx="68580" cy="2103120"/>
          </a:xfrm>
          <a:prstGeom prst="rect">
            <a:avLst/>
          </a:prstGeom>
          <a:solidFill>
            <a:srgbClr val="B887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737592" y="301752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Resource renewal</a:t>
            </a:r>
          </a:p>
        </p:txBody>
      </p:sp>
      <p:sp>
        <p:nvSpPr>
          <p:cNvPr id="24" name="TextBox 23"/>
          <p:cNvSpPr txBox="1"/>
          <p:nvPr/>
        </p:nvSpPr>
        <p:spPr>
          <a:xfrm>
            <a:off x="12737592" y="3767328"/>
            <a:ext cx="4297680" cy="106984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Low or high extraction;</a:t>
            </a:r>
          </a:p>
          <a:p>
            <a:pPr algn="l">
              <a:spcAft>
                <a:spcPts val="400"/>
              </a:spcAft>
              <a:defRPr sz="2500" b="0">
                <a:solidFill>
                  <a:srgbClr val="111111"/>
                </a:solidFill>
                <a:latin typeface="Arial"/>
              </a:defRPr>
            </a:pPr>
            <a:r>
              <a:t>renewal and spatial coupling</a:t>
            </a:r>
          </a:p>
        </p:txBody>
      </p:sp>
      <p:sp>
        <p:nvSpPr>
          <p:cNvPr id="25" name="Rectangle 24"/>
          <p:cNvSpPr/>
          <p:nvPr/>
        </p:nvSpPr>
        <p:spPr>
          <a:xfrm>
            <a:off x="12527280" y="6035040"/>
            <a:ext cx="4709160" cy="23317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527280" y="6035040"/>
            <a:ext cx="68580" cy="2331720"/>
          </a:xfrm>
          <a:prstGeom prst="rect">
            <a:avLst/>
          </a:prstGeom>
          <a:solidFill>
            <a:srgbClr val="218F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737592" y="621792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Predict and compare</a:t>
            </a:r>
          </a:p>
        </p:txBody>
      </p:sp>
      <p:sp>
        <p:nvSpPr>
          <p:cNvPr id="28" name="TextBox 27"/>
          <p:cNvSpPr txBox="1"/>
          <p:nvPr/>
        </p:nvSpPr>
        <p:spPr>
          <a:xfrm>
            <a:off x="12737592" y="6967727"/>
            <a:ext cx="4297680" cy="129844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Expected vs. observed</a:t>
            </a:r>
          </a:p>
          <a:p>
            <a:pPr algn="l">
              <a:spcAft>
                <a:spcPts val="400"/>
              </a:spcAft>
              <a:defRPr sz="2500" b="0">
                <a:solidFill>
                  <a:srgbClr val="111111"/>
                </a:solidFill>
                <a:latin typeface="Arial"/>
              </a:defRPr>
            </a:pPr>
            <a:r>
              <a:t>peer behavior → local surprise</a:t>
            </a:r>
          </a:p>
        </p:txBody>
      </p:sp>
      <p:sp>
        <p:nvSpPr>
          <p:cNvPr id="29" name="Rectangle 28"/>
          <p:cNvSpPr/>
          <p:nvPr/>
        </p:nvSpPr>
        <p:spPr>
          <a:xfrm>
            <a:off x="6400800" y="6035040"/>
            <a:ext cx="4709160" cy="23317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0" y="6035040"/>
            <a:ext cx="68580" cy="2331720"/>
          </a:xfrm>
          <a:prstGeom prst="rect">
            <a:avLst/>
          </a:prstGeom>
          <a:solidFill>
            <a:srgbClr val="218F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11112" y="6217920"/>
            <a:ext cx="429768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Replace a source</a:t>
            </a:r>
          </a:p>
        </p:txBody>
      </p:sp>
      <p:sp>
        <p:nvSpPr>
          <p:cNvPr id="32" name="TextBox 31"/>
          <p:cNvSpPr txBox="1"/>
          <p:nvPr/>
        </p:nvSpPr>
        <p:spPr>
          <a:xfrm>
            <a:off x="6611112" y="6967727"/>
            <a:ext cx="4297680" cy="129844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If surprise is high:</a:t>
            </a:r>
          </a:p>
          <a:p>
            <a:pPr algn="l">
              <a:spcAft>
                <a:spcPts val="400"/>
              </a:spcAft>
              <a:defRPr sz="2500" b="0">
                <a:solidFill>
                  <a:srgbClr val="111111"/>
                </a:solidFill>
                <a:latin typeface="Arial"/>
              </a:defRPr>
            </a:pPr>
            <a:r>
              <a:t>local or global search</a:t>
            </a:r>
          </a:p>
        </p:txBody>
      </p:sp>
      <p:cxnSp>
        <p:nvCxnSpPr>
          <p:cNvPr id="33" name="Connector 32"/>
          <p:cNvCxnSpPr/>
          <p:nvPr/>
        </p:nvCxnSpPr>
        <p:spPr>
          <a:xfrm>
            <a:off x="4892040" y="4023360"/>
            <a:ext cx="1280160" cy="0"/>
          </a:xfrm>
          <a:prstGeom prst="line">
            <a:avLst/>
          </a:prstGeom>
          <a:ln w="27940">
            <a:solidFill>
              <a:srgbClr val="666666"/>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1320272" y="3840480"/>
            <a:ext cx="978408" cy="0"/>
          </a:xfrm>
          <a:prstGeom prst="line">
            <a:avLst/>
          </a:prstGeom>
          <a:ln w="27940">
            <a:solidFill>
              <a:srgbClr val="666666"/>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4813280" y="5166360"/>
            <a:ext cx="0" cy="630936"/>
          </a:xfrm>
          <a:prstGeom prst="line">
            <a:avLst/>
          </a:prstGeom>
          <a:ln w="27940">
            <a:solidFill>
              <a:srgbClr val="B88718"/>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1338560" y="7223760"/>
            <a:ext cx="960120" cy="0"/>
          </a:xfrm>
          <a:prstGeom prst="line">
            <a:avLst/>
          </a:prstGeom>
          <a:ln w="27940">
            <a:solidFill>
              <a:srgbClr val="218F8D"/>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349240" y="7223760"/>
            <a:ext cx="822960" cy="0"/>
          </a:xfrm>
          <a:prstGeom prst="line">
            <a:avLst/>
          </a:prstGeom>
          <a:ln w="27940">
            <a:solidFill>
              <a:srgbClr val="218F8D"/>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349240" y="4892040"/>
            <a:ext cx="0" cy="2331720"/>
          </a:xfrm>
          <a:prstGeom prst="line">
            <a:avLst/>
          </a:prstGeom>
          <a:ln w="27940">
            <a:solidFill>
              <a:srgbClr val="218F8D"/>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400800" y="8887968"/>
            <a:ext cx="10789920" cy="548640"/>
          </a:xfrm>
          <a:prstGeom prst="rect">
            <a:avLst/>
          </a:prstGeom>
          <a:noFill/>
        </p:spPr>
        <p:txBody>
          <a:bodyPr wrap="square" lIns="0" rIns="0" tIns="0" bIns="0">
            <a:spAutoFit/>
          </a:bodyPr>
          <a:lstStyle/>
          <a:p>
            <a:pPr algn="l">
              <a:spcAft>
                <a:spcPts val="400"/>
              </a:spcAft>
              <a:defRPr sz="2100" b="1">
                <a:solidFill>
                  <a:srgbClr val="111111"/>
                </a:solidFill>
                <a:latin typeface="Arial"/>
              </a:defRPr>
            </a:pPr>
            <a:r>
              <a:rPr sz="2100"/>
              <a:t>Reward = own harvest. Welfare is measured separately; it does not enter the reward.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The full run separates ecology, search scope and observer selection</a:t>
            </a:r>
          </a:p>
        </p:txBody>
      </p:sp>
      <p:sp>
        <p:nvSpPr>
          <p:cNvPr id="3" name="TextBox 2"/>
          <p:cNvSpPr txBox="1"/>
          <p:nvPr/>
        </p:nvSpPr>
        <p:spPr>
          <a:xfrm>
            <a:off x="868680" y="1581912"/>
            <a:ext cx="16550640" cy="777240"/>
          </a:xfrm>
          <a:prstGeom prst="rect">
            <a:avLst/>
          </a:prstGeom>
          <a:noFill/>
        </p:spPr>
        <p:txBody>
          <a:bodyPr wrap="square" lIns="0" rIns="0" tIns="0" bIns="0">
            <a:spAutoFit/>
          </a:bodyPr>
          <a:lstStyle/>
          <a:p>
            <a:pPr algn="l">
              <a:spcAft>
                <a:spcPts val="400"/>
              </a:spcAft>
              <a:defRPr sz="2700" b="0">
                <a:solidFill>
                  <a:srgbClr val="666666"/>
                </a:solidFill>
                <a:latin typeface="Arial"/>
              </a:defRPr>
            </a:pPr>
            <a:r>
              <a:t>27 conditions × 100 replicates = 2,700 condition-replicates · 64 agents per population</a:t>
            </a:r>
          </a:p>
        </p:txBody>
      </p:sp>
      <p:sp>
        <p:nvSpPr>
          <p:cNvPr id="4" name="TextBox 3"/>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5" name="TextBox 4"/>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3 / 7</a:t>
            </a:r>
          </a:p>
        </p:txBody>
      </p:sp>
      <p:sp>
        <p:nvSpPr>
          <p:cNvPr id="6" name="TextBox 5"/>
          <p:cNvSpPr txBox="1"/>
          <p:nvPr/>
        </p:nvSpPr>
        <p:spPr>
          <a:xfrm>
            <a:off x="914400" y="2560320"/>
            <a:ext cx="8138160" cy="548640"/>
          </a:xfrm>
          <a:prstGeom prst="rect">
            <a:avLst/>
          </a:prstGeom>
          <a:noFill/>
        </p:spPr>
        <p:txBody>
          <a:bodyPr wrap="square" lIns="0" rIns="0" tIns="0" bIns="0">
            <a:spAutoFit/>
          </a:bodyPr>
          <a:lstStyle/>
          <a:p>
            <a:pPr algn="l">
              <a:spcAft>
                <a:spcPts val="400"/>
              </a:spcAft>
              <a:defRPr sz="2800" b="1">
                <a:solidFill>
                  <a:srgbClr val="111111"/>
                </a:solidFill>
                <a:latin typeface="Arial"/>
              </a:defRPr>
            </a:pPr>
            <a:r>
              <a:t>Three reference conditions</a:t>
            </a:r>
          </a:p>
        </p:txBody>
      </p:sp>
      <p:sp>
        <p:nvSpPr>
          <p:cNvPr id="7" name="TextBox 6"/>
          <p:cNvSpPr txBox="1"/>
          <p:nvPr/>
        </p:nvSpPr>
        <p:spPr>
          <a:xfrm>
            <a:off x="960120" y="3383280"/>
            <a:ext cx="914400" cy="502920"/>
          </a:xfrm>
          <a:prstGeom prst="rect">
            <a:avLst/>
          </a:prstGeom>
          <a:noFill/>
        </p:spPr>
        <p:txBody>
          <a:bodyPr wrap="square" lIns="0" rIns="0" tIns="0" bIns="0">
            <a:spAutoFit/>
          </a:bodyPr>
          <a:lstStyle/>
          <a:p>
            <a:pPr algn="l">
              <a:spcAft>
                <a:spcPts val="400"/>
              </a:spcAft>
              <a:defRPr sz="2900" b="1">
                <a:solidFill>
                  <a:srgbClr val="111111"/>
                </a:solidFill>
                <a:latin typeface="Arial"/>
              </a:defRPr>
            </a:pPr>
            <a:r>
              <a:t>B0</a:t>
            </a:r>
          </a:p>
        </p:txBody>
      </p:sp>
      <p:sp>
        <p:nvSpPr>
          <p:cNvPr id="8" name="TextBox 7"/>
          <p:cNvSpPr txBox="1"/>
          <p:nvPr/>
        </p:nvSpPr>
        <p:spPr>
          <a:xfrm>
            <a:off x="2103120" y="3383280"/>
            <a:ext cx="6858000" cy="640080"/>
          </a:xfrm>
          <a:prstGeom prst="rect">
            <a:avLst/>
          </a:prstGeom>
          <a:noFill/>
        </p:spPr>
        <p:txBody>
          <a:bodyPr wrap="square" lIns="0" rIns="0" tIns="0" bIns="0">
            <a:spAutoFit/>
          </a:bodyPr>
          <a:lstStyle/>
          <a:p>
            <a:pPr algn="l">
              <a:spcAft>
                <a:spcPts val="400"/>
              </a:spcAft>
              <a:defRPr sz="2700" b="0">
                <a:solidFill>
                  <a:srgbClr val="111111"/>
                </a:solidFill>
                <a:latin typeface="Arial"/>
              </a:defRPr>
            </a:pPr>
            <a:r>
              <a:t>Ecological learning only</a:t>
            </a:r>
          </a:p>
        </p:txBody>
      </p:sp>
      <p:sp>
        <p:nvSpPr>
          <p:cNvPr id="9" name="TextBox 8"/>
          <p:cNvSpPr txBox="1"/>
          <p:nvPr/>
        </p:nvSpPr>
        <p:spPr>
          <a:xfrm>
            <a:off x="960120" y="4160520"/>
            <a:ext cx="914400" cy="502920"/>
          </a:xfrm>
          <a:prstGeom prst="rect">
            <a:avLst/>
          </a:prstGeom>
          <a:noFill/>
        </p:spPr>
        <p:txBody>
          <a:bodyPr wrap="square" lIns="0" rIns="0" tIns="0" bIns="0">
            <a:spAutoFit/>
          </a:bodyPr>
          <a:lstStyle/>
          <a:p>
            <a:pPr algn="l">
              <a:spcAft>
                <a:spcPts val="400"/>
              </a:spcAft>
              <a:defRPr sz="2900" b="1">
                <a:solidFill>
                  <a:srgbClr val="111111"/>
                </a:solidFill>
                <a:latin typeface="Arial"/>
              </a:defRPr>
            </a:pPr>
            <a:r>
              <a:t>S1</a:t>
            </a:r>
          </a:p>
        </p:txBody>
      </p:sp>
      <p:sp>
        <p:nvSpPr>
          <p:cNvPr id="10" name="TextBox 9"/>
          <p:cNvSpPr txBox="1"/>
          <p:nvPr/>
        </p:nvSpPr>
        <p:spPr>
          <a:xfrm>
            <a:off x="2103120" y="4160520"/>
            <a:ext cx="6858000" cy="640080"/>
          </a:xfrm>
          <a:prstGeom prst="rect">
            <a:avLst/>
          </a:prstGeom>
          <a:noFill/>
        </p:spPr>
        <p:txBody>
          <a:bodyPr wrap="square" lIns="0" rIns="0" tIns="0" bIns="0">
            <a:spAutoFit/>
          </a:bodyPr>
          <a:lstStyle/>
          <a:p>
            <a:pPr algn="l">
              <a:spcAft>
                <a:spcPts val="400"/>
              </a:spcAft>
              <a:defRPr sz="2700" b="0">
                <a:solidFill>
                  <a:srgbClr val="111111"/>
                </a:solidFill>
                <a:latin typeface="Arial"/>
              </a:defRPr>
            </a:pPr>
            <a:r>
              <a:t>Fixed random observation network</a:t>
            </a:r>
          </a:p>
        </p:txBody>
      </p:sp>
      <p:sp>
        <p:nvSpPr>
          <p:cNvPr id="11" name="TextBox 10"/>
          <p:cNvSpPr txBox="1"/>
          <p:nvPr/>
        </p:nvSpPr>
        <p:spPr>
          <a:xfrm>
            <a:off x="960120" y="4937760"/>
            <a:ext cx="914400" cy="502920"/>
          </a:xfrm>
          <a:prstGeom prst="rect">
            <a:avLst/>
          </a:prstGeom>
          <a:noFill/>
        </p:spPr>
        <p:txBody>
          <a:bodyPr wrap="square" lIns="0" rIns="0" tIns="0" bIns="0">
            <a:spAutoFit/>
          </a:bodyPr>
          <a:lstStyle/>
          <a:p>
            <a:pPr algn="l">
              <a:spcAft>
                <a:spcPts val="400"/>
              </a:spcAft>
              <a:defRPr sz="2900" b="1">
                <a:solidFill>
                  <a:srgbClr val="111111"/>
                </a:solidFill>
                <a:latin typeface="Arial"/>
              </a:defRPr>
            </a:pPr>
            <a:r>
              <a:t>S2</a:t>
            </a:r>
          </a:p>
        </p:txBody>
      </p:sp>
      <p:sp>
        <p:nvSpPr>
          <p:cNvPr id="12" name="TextBox 11"/>
          <p:cNvSpPr txBox="1"/>
          <p:nvPr/>
        </p:nvSpPr>
        <p:spPr>
          <a:xfrm>
            <a:off x="2103120" y="4937760"/>
            <a:ext cx="6858000" cy="640080"/>
          </a:xfrm>
          <a:prstGeom prst="rect">
            <a:avLst/>
          </a:prstGeom>
          <a:noFill/>
        </p:spPr>
        <p:txBody>
          <a:bodyPr wrap="square" lIns="0" rIns="0" tIns="0" bIns="0">
            <a:spAutoFit/>
          </a:bodyPr>
          <a:lstStyle/>
          <a:p>
            <a:pPr algn="l">
              <a:spcAft>
                <a:spcPts val="400"/>
              </a:spcAft>
              <a:defRPr sz="2700" b="0">
                <a:solidFill>
                  <a:srgbClr val="111111"/>
                </a:solidFill>
                <a:latin typeface="Arial"/>
              </a:defRPr>
            </a:pPr>
            <a:r>
              <a:t>Uneven visibility + varying attention</a:t>
            </a:r>
          </a:p>
        </p:txBody>
      </p:sp>
      <p:sp>
        <p:nvSpPr>
          <p:cNvPr id="13" name="Rectangle 12"/>
          <p:cNvSpPr/>
          <p:nvPr/>
        </p:nvSpPr>
        <p:spPr>
          <a:xfrm>
            <a:off x="9646920" y="2606040"/>
            <a:ext cx="7680960" cy="3154680"/>
          </a:xfrm>
          <a:prstGeom prst="rect">
            <a:avLst/>
          </a:prstGeom>
          <a:solidFill>
            <a:srgbClr val="F3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0" y="2834640"/>
            <a:ext cx="6949440" cy="594360"/>
          </a:xfrm>
          <a:prstGeom prst="rect">
            <a:avLst/>
          </a:prstGeom>
          <a:noFill/>
        </p:spPr>
        <p:txBody>
          <a:bodyPr wrap="square" lIns="0" rIns="0" tIns="0" bIns="0">
            <a:spAutoFit/>
          </a:bodyPr>
          <a:lstStyle/>
          <a:p>
            <a:pPr algn="l">
              <a:spcAft>
                <a:spcPts val="400"/>
              </a:spcAft>
              <a:defRPr sz="3100" b="1">
                <a:solidFill>
                  <a:srgbClr val="111111"/>
                </a:solidFill>
                <a:latin typeface="Arial"/>
              </a:defRPr>
            </a:pPr>
            <a:r>
              <a:t>R1 / R2 / R3   ↔   matched R0</a:t>
            </a:r>
          </a:p>
        </p:txBody>
      </p:sp>
      <p:sp>
        <p:nvSpPr>
          <p:cNvPr id="15" name="TextBox 14"/>
          <p:cNvSpPr txBox="1"/>
          <p:nvPr/>
        </p:nvSpPr>
        <p:spPr>
          <a:xfrm>
            <a:off x="9966960" y="3703320"/>
            <a:ext cx="6949440" cy="1463040"/>
          </a:xfrm>
          <a:prstGeom prst="rect">
            <a:avLst/>
          </a:prstGeom>
          <a:noFill/>
        </p:spPr>
        <p:txBody>
          <a:bodyPr wrap="square" lIns="0" rIns="0" tIns="0" bIns="0">
            <a:spAutoFit/>
          </a:bodyPr>
          <a:lstStyle/>
          <a:p>
            <a:pPr algn="l">
              <a:spcAft>
                <a:spcPts val="400"/>
              </a:spcAft>
              <a:defRPr sz="2600" b="0">
                <a:solidFill>
                  <a:srgbClr val="111111"/>
                </a:solidFill>
                <a:latin typeface="Arial"/>
              </a:defRPr>
            </a:pPr>
            <a:r>
              <a:t>Local / mixed / global search</a:t>
            </a:r>
          </a:p>
          <a:p>
            <a:pPr algn="l">
              <a:spcAft>
                <a:spcPts val="400"/>
              </a:spcAft>
              <a:defRPr sz="2600" b="0">
                <a:solidFill>
                  <a:srgbClr val="111111"/>
                </a:solidFill>
                <a:latin typeface="Arial"/>
              </a:defRPr>
            </a:pPr>
            <a:r>
              <a:t>Same rewiring event counts and scope</a:t>
            </a:r>
          </a:p>
          <a:p>
            <a:pPr algn="l">
              <a:spcAft>
                <a:spcPts val="400"/>
              </a:spcAft>
              <a:defRPr sz="2600" b="0">
                <a:solidFill>
                  <a:srgbClr val="111111"/>
                </a:solidFill>
                <a:latin typeface="Arial"/>
              </a:defRPr>
            </a:pPr>
            <a:r>
              <a:t>Different selection of observers</a:t>
            </a:r>
          </a:p>
        </p:txBody>
      </p:sp>
      <p:pic>
        <p:nvPicPr>
          <p:cNvPr id="16" name="Picture 15" descr="capacity_uniform_high.png"/>
          <p:cNvPicPr>
            <a:picLocks noChangeAspect="1"/>
          </p:cNvPicPr>
          <p:nvPr/>
        </p:nvPicPr>
        <p:blipFill>
          <a:blip r:embed="rId2"/>
          <a:stretch>
            <a:fillRect/>
          </a:stretch>
        </p:blipFill>
        <p:spPr>
          <a:xfrm>
            <a:off x="960120" y="6400800"/>
            <a:ext cx="1737360" cy="1737360"/>
          </a:xfrm>
          <a:prstGeom prst="rect">
            <a:avLst/>
          </a:prstGeom>
        </p:spPr>
      </p:pic>
      <p:sp>
        <p:nvSpPr>
          <p:cNvPr id="17" name="TextBox 16"/>
          <p:cNvSpPr txBox="1"/>
          <p:nvPr/>
        </p:nvSpPr>
        <p:spPr>
          <a:xfrm>
            <a:off x="795528" y="8293608"/>
            <a:ext cx="2514600" cy="530352"/>
          </a:xfrm>
          <a:prstGeom prst="rect">
            <a:avLst/>
          </a:prstGeom>
          <a:noFill/>
        </p:spPr>
        <p:txBody>
          <a:bodyPr wrap="square" lIns="0" rIns="0" tIns="0" bIns="0">
            <a:spAutoFit/>
          </a:bodyPr>
          <a:lstStyle/>
          <a:p>
            <a:pPr algn="l">
              <a:spcAft>
                <a:spcPts val="400"/>
              </a:spcAft>
              <a:defRPr sz="2300" b="1">
                <a:solidFill>
                  <a:srgbClr val="111111"/>
                </a:solidFill>
                <a:latin typeface="Arial"/>
              </a:defRPr>
            </a:pPr>
            <a:r>
              <a:t>Uniform high</a:t>
            </a:r>
          </a:p>
        </p:txBody>
      </p:sp>
      <p:pic>
        <p:nvPicPr>
          <p:cNvPr id="18" name="Picture 17" descr="capacity_patchy_high.png"/>
          <p:cNvPicPr>
            <a:picLocks noChangeAspect="1"/>
          </p:cNvPicPr>
          <p:nvPr/>
        </p:nvPicPr>
        <p:blipFill>
          <a:blip r:embed="rId3"/>
          <a:stretch>
            <a:fillRect/>
          </a:stretch>
        </p:blipFill>
        <p:spPr>
          <a:xfrm>
            <a:off x="3813048" y="6400800"/>
            <a:ext cx="1737360" cy="1737360"/>
          </a:xfrm>
          <a:prstGeom prst="rect">
            <a:avLst/>
          </a:prstGeom>
        </p:spPr>
      </p:pic>
      <p:sp>
        <p:nvSpPr>
          <p:cNvPr id="19" name="TextBox 18"/>
          <p:cNvSpPr txBox="1"/>
          <p:nvPr/>
        </p:nvSpPr>
        <p:spPr>
          <a:xfrm>
            <a:off x="3648456" y="8293608"/>
            <a:ext cx="2514600" cy="530352"/>
          </a:xfrm>
          <a:prstGeom prst="rect">
            <a:avLst/>
          </a:prstGeom>
          <a:noFill/>
        </p:spPr>
        <p:txBody>
          <a:bodyPr wrap="square" lIns="0" rIns="0" tIns="0" bIns="0">
            <a:spAutoFit/>
          </a:bodyPr>
          <a:lstStyle/>
          <a:p>
            <a:pPr algn="l">
              <a:spcAft>
                <a:spcPts val="400"/>
              </a:spcAft>
              <a:defRPr sz="2300" b="1">
                <a:solidFill>
                  <a:srgbClr val="111111"/>
                </a:solidFill>
                <a:latin typeface="Arial"/>
              </a:defRPr>
            </a:pPr>
            <a:r>
              <a:t>Patchy high</a:t>
            </a:r>
          </a:p>
        </p:txBody>
      </p:sp>
      <p:pic>
        <p:nvPicPr>
          <p:cNvPr id="20" name="Picture 19" descr="capacity_split_high_low.png"/>
          <p:cNvPicPr>
            <a:picLocks noChangeAspect="1"/>
          </p:cNvPicPr>
          <p:nvPr/>
        </p:nvPicPr>
        <p:blipFill>
          <a:blip r:embed="rId4"/>
          <a:stretch>
            <a:fillRect/>
          </a:stretch>
        </p:blipFill>
        <p:spPr>
          <a:xfrm>
            <a:off x="6665976" y="6400800"/>
            <a:ext cx="1737360" cy="1737360"/>
          </a:xfrm>
          <a:prstGeom prst="rect">
            <a:avLst/>
          </a:prstGeom>
        </p:spPr>
      </p:pic>
      <p:sp>
        <p:nvSpPr>
          <p:cNvPr id="21" name="TextBox 20"/>
          <p:cNvSpPr txBox="1"/>
          <p:nvPr/>
        </p:nvSpPr>
        <p:spPr>
          <a:xfrm>
            <a:off x="6501384" y="8293608"/>
            <a:ext cx="2514600" cy="530352"/>
          </a:xfrm>
          <a:prstGeom prst="rect">
            <a:avLst/>
          </a:prstGeom>
          <a:noFill/>
        </p:spPr>
        <p:txBody>
          <a:bodyPr wrap="square" lIns="0" rIns="0" tIns="0" bIns="0">
            <a:spAutoFit/>
          </a:bodyPr>
          <a:lstStyle/>
          <a:p>
            <a:pPr algn="l">
              <a:spcAft>
                <a:spcPts val="400"/>
              </a:spcAft>
              <a:defRPr sz="2300" b="1">
                <a:solidFill>
                  <a:srgbClr val="111111"/>
                </a:solidFill>
                <a:latin typeface="Arial"/>
              </a:defRPr>
            </a:pPr>
            <a:r>
              <a:t>Split high / low</a:t>
            </a:r>
          </a:p>
        </p:txBody>
      </p:sp>
      <p:pic>
        <p:nvPicPr>
          <p:cNvPr id="22" name="Picture 21" descr="capacity_scale.png"/>
          <p:cNvPicPr>
            <a:picLocks noChangeAspect="1"/>
          </p:cNvPicPr>
          <p:nvPr/>
        </p:nvPicPr>
        <p:blipFill>
          <a:blip r:embed="rId5"/>
          <a:stretch>
            <a:fillRect/>
          </a:stretch>
        </p:blipFill>
        <p:spPr>
          <a:xfrm>
            <a:off x="8732520" y="6567761"/>
            <a:ext cx="713232" cy="1449157"/>
          </a:xfrm>
          <a:prstGeom prst="rect">
            <a:avLst/>
          </a:prstGeom>
        </p:spPr>
      </p:pic>
      <p:sp>
        <p:nvSpPr>
          <p:cNvPr id="23" name="TextBox 22"/>
          <p:cNvSpPr txBox="1"/>
          <p:nvPr/>
        </p:nvSpPr>
        <p:spPr>
          <a:xfrm>
            <a:off x="914400" y="8979408"/>
            <a:ext cx="8503920" cy="502920"/>
          </a:xfrm>
          <a:prstGeom prst="rect">
            <a:avLst/>
          </a:prstGeom>
          <a:noFill/>
        </p:spPr>
        <p:txBody>
          <a:bodyPr wrap="square" lIns="0" rIns="0" tIns="0" bIns="0">
            <a:spAutoFit/>
          </a:bodyPr>
          <a:lstStyle/>
          <a:p>
            <a:pPr algn="l">
              <a:spcAft>
                <a:spcPts val="400"/>
              </a:spcAft>
              <a:defRPr sz="1900" b="0">
                <a:solidFill>
                  <a:srgbClr val="666666"/>
                </a:solidFill>
                <a:latin typeface="Arial"/>
              </a:defRPr>
            </a:pPr>
            <a:r>
              <a:t>Illustrative capacity maps · common scale 0–1</a:t>
            </a:r>
          </a:p>
        </p:txBody>
      </p:sp>
      <p:sp>
        <p:nvSpPr>
          <p:cNvPr id="24" name="TextBox 23"/>
          <p:cNvSpPr txBox="1"/>
          <p:nvPr/>
        </p:nvSpPr>
        <p:spPr>
          <a:xfrm>
            <a:off x="10058400" y="6419088"/>
            <a:ext cx="7223760" cy="2468880"/>
          </a:xfrm>
          <a:prstGeom prst="rect">
            <a:avLst/>
          </a:prstGeom>
          <a:noFill/>
        </p:spPr>
        <p:txBody>
          <a:bodyPr wrap="square" lIns="0" rIns="0" tIns="0" bIns="0">
            <a:spAutoFit/>
          </a:bodyPr>
          <a:lstStyle/>
          <a:p>
            <a:pPr algn="l">
              <a:spcAft>
                <a:spcPts val="400"/>
              </a:spcAft>
              <a:defRPr sz="2500" b="0">
                <a:solidFill>
                  <a:srgbClr val="111111"/>
                </a:solidFill>
                <a:latin typeface="Arial"/>
              </a:defRPr>
            </a:pPr>
            <a:r>
              <a:rPr sz="2500"/>
              <a:t>3 ecologies × 9 observation rules</a:t>
            </a:r>
          </a:p>
          <a:p>
            <a:pPr algn="l">
              <a:spcAft>
                <a:spcPts val="400"/>
              </a:spcAft>
              <a:defRPr sz="2500" b="0">
                <a:solidFill>
                  <a:srgbClr val="111111"/>
                </a:solidFill>
                <a:latin typeface="Arial"/>
              </a:defRPr>
            </a:pPr>
            <a:r>
              <a:rPr sz="2500"/>
              <a:t>100 replicates per condition</a:t>
            </a:r>
          </a:p>
          <a:p>
            <a:pPr algn="l">
              <a:spcAft>
                <a:spcPts val="400"/>
              </a:spcAft>
              <a:defRPr sz="2500" b="0">
                <a:solidFill>
                  <a:srgbClr val="111111"/>
                </a:solidFill>
                <a:latin typeface="Arial"/>
              </a:defRPr>
            </a:pPr>
            <a:r>
              <a:rPr sz="2500"/>
              <a:t>5,000 training + 1,000 evaluation steps</a:t>
            </a:r>
          </a:p>
          <a:p>
            <a:pPr algn="l">
              <a:spcAft>
                <a:spcPts val="400"/>
              </a:spcAft>
              <a:defRPr sz="2500" b="0">
                <a:solidFill>
                  <a:srgbClr val="111111"/>
                </a:solidFill>
                <a:latin typeface="Arial"/>
              </a:defRPr>
            </a:pPr>
            <a:r>
              <a:rPr sz="2500"/>
              <a:t>Outcomes: fresh reset, frozen policies + graphs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Observation rules change perception; ecology differences are small</a:t>
            </a:r>
          </a:p>
        </p:txBody>
      </p:sp>
      <p:sp>
        <p:nvSpPr>
          <p:cNvPr id="3" name="TextBox 2"/>
          <p:cNvSpPr txBox="1"/>
          <p:nvPr/>
        </p:nvSpPr>
        <p:spPr>
          <a:xfrm>
            <a:off x="868680" y="1581912"/>
            <a:ext cx="16550640" cy="777240"/>
          </a:xfrm>
          <a:prstGeom prst="rect">
            <a:avLst/>
          </a:prstGeom>
          <a:noFill/>
        </p:spPr>
        <p:txBody>
          <a:bodyPr wrap="square" lIns="0" rIns="0" tIns="0" bIns="0">
            <a:spAutoFit/>
          </a:bodyPr>
          <a:lstStyle/>
          <a:p>
            <a:pPr algn="l">
              <a:spcAft>
                <a:spcPts val="400"/>
              </a:spcAft>
              <a:defRPr sz="2700" b="0">
                <a:solidFill>
                  <a:srgbClr val="666666"/>
                </a:solidFill>
                <a:latin typeface="Arial"/>
              </a:defRPr>
            </a:pPr>
            <a:r>
              <a:t>Final 1,000 training steps · all eight social treatments · means and 95% bootstrap intervals</a:t>
            </a:r>
          </a:p>
        </p:txBody>
      </p:sp>
      <p:sp>
        <p:nvSpPr>
          <p:cNvPr id="4" name="TextBox 3"/>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5" name="TextBox 4"/>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4 / 7</a:t>
            </a:r>
          </a:p>
        </p:txBody>
      </p:sp>
      <p:sp>
        <p:nvSpPr>
          <p:cNvPr id="7" name="TextBox 6"/>
          <p:cNvSpPr txBox="1"/>
          <p:nvPr/>
        </p:nvSpPr>
        <p:spPr>
          <a:xfrm>
            <a:off x="914400" y="8458200"/>
            <a:ext cx="16459200" cy="594360"/>
          </a:xfrm>
          <a:prstGeom prst="rect">
            <a:avLst/>
          </a:prstGeom>
          <a:noFill/>
        </p:spPr>
        <p:txBody>
          <a:bodyPr wrap="square" lIns="0" rIns="0" tIns="0" bIns="0">
            <a:spAutoFit/>
          </a:bodyPr>
          <a:lstStyle/>
          <a:p>
            <a:pPr algn="l">
              <a:spcAft>
                <a:spcPts val="400"/>
              </a:spcAft>
              <a:defRPr sz="2700" b="1">
                <a:solidFill>
                  <a:srgbClr val="111111"/>
                </a:solidFill>
                <a:latin typeface="Arial"/>
              </a:defRPr>
            </a:pPr>
            <a:r>
              <a:rPr sz="2700"/>
              <a:t>Adaptive selection lowers non-tie mismatch by 1.35–2.16 pp versus matched turnover.</a:t>
            </a:r>
          </a:p>
        </p:txBody>
      </p:sp>
      <p:sp>
        <p:nvSpPr>
          <p:cNvPr id="8" name="TextBox 7"/>
          <p:cNvSpPr txBox="1"/>
          <p:nvPr/>
        </p:nvSpPr>
        <p:spPr>
          <a:xfrm>
            <a:off x="914400" y="9070848"/>
            <a:ext cx="16459200" cy="365760"/>
          </a:xfrm>
          <a:prstGeom prst="rect">
            <a:avLst/>
          </a:prstGeom>
          <a:noFill/>
        </p:spPr>
        <p:txBody>
          <a:bodyPr wrap="square" lIns="0" rIns="0" tIns="0" bIns="0">
            <a:spAutoFit/>
          </a:bodyPr>
          <a:lstStyle/>
          <a:p>
            <a:pPr algn="l">
              <a:spcAft>
                <a:spcPts val="400"/>
              </a:spcAft>
              <a:defRPr sz="1900" b="0">
                <a:solidFill>
                  <a:srgbClr val="666666"/>
                </a:solidFill>
                <a:latin typeface="Arial"/>
              </a:defRPr>
            </a:pPr>
            <a:r>
              <a:rPr sz="1900"/>
              <a:t>Raw error includes sampling: four random peers already imply 17.5–17.8 pp MAE. S2 also varies attention capacity.</a:t>
            </a:r>
          </a:p>
        </p:txBody>
      </p:sp>
      <p:pic>
        <p:nvPicPr>
          <p:cNvPr id="9" name="Picture 8" descr="perception.png"/>
          <p:cNvPicPr>
            <a:picLocks noChangeAspect="1"/>
          </p:cNvPicPr>
          <p:nvPr/>
        </p:nvPicPr>
        <p:blipFill>
          <a:blip r:embed="rId4"/>
          <a:stretch>
            <a:fillRect/>
          </a:stretch>
        </p:blipFill>
        <p:spPr>
          <a:xfrm>
            <a:off x="457200" y="2377440"/>
            <a:ext cx="17373600" cy="619048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Local search concentrates visibility, even under random turnover</a:t>
            </a:r>
          </a:p>
        </p:txBody>
      </p:sp>
      <p:sp>
        <p:nvSpPr>
          <p:cNvPr id="3" name="TextBox 2"/>
          <p:cNvSpPr txBox="1"/>
          <p:nvPr/>
        </p:nvSpPr>
        <p:spPr>
          <a:xfrm>
            <a:off x="868680" y="1581912"/>
            <a:ext cx="16550640" cy="777240"/>
          </a:xfrm>
          <a:prstGeom prst="rect">
            <a:avLst/>
          </a:prstGeom>
          <a:noFill/>
        </p:spPr>
        <p:txBody>
          <a:bodyPr wrap="square" lIns="0" rIns="0" tIns="0" bIns="0">
            <a:spAutoFit/>
          </a:bodyPr>
          <a:lstStyle/>
          <a:p>
            <a:pPr algn="l">
              <a:spcAft>
                <a:spcPts val="400"/>
              </a:spcAft>
              <a:defRPr sz="2700" b="0">
                <a:solidFill>
                  <a:srgbClr val="666666"/>
                </a:solidFill>
                <a:latin typeface="Arial"/>
              </a:defRPr>
            </a:pPr>
            <a:r>
              <a:t>Collective organization = visibility concentration and prevalence of low-extraction behavior</a:t>
            </a:r>
          </a:p>
        </p:txBody>
      </p:sp>
      <p:sp>
        <p:nvSpPr>
          <p:cNvPr id="4" name="TextBox 3"/>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5" name="TextBox 4"/>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5 / 7</a:t>
            </a:r>
          </a:p>
        </p:txBody>
      </p:sp>
      <p:sp>
        <p:nvSpPr>
          <p:cNvPr id="7" name="TextBox 6"/>
          <p:cNvSpPr txBox="1"/>
          <p:nvPr/>
        </p:nvSpPr>
        <p:spPr>
          <a:xfrm>
            <a:off x="914400" y="8458200"/>
            <a:ext cx="16459200" cy="594360"/>
          </a:xfrm>
          <a:prstGeom prst="rect">
            <a:avLst/>
          </a:prstGeom>
          <a:noFill/>
        </p:spPr>
        <p:txBody>
          <a:bodyPr wrap="square" lIns="0" rIns="0" tIns="0" bIns="0">
            <a:spAutoFit/>
          </a:bodyPr>
          <a:lstStyle/>
          <a:p>
            <a:pPr algn="l">
              <a:spcAft>
                <a:spcPts val="400"/>
              </a:spcAft>
              <a:defRPr sz="2700" b="1">
                <a:solidFill>
                  <a:srgbClr val="111111"/>
                </a:solidFill>
                <a:latin typeface="Arial"/>
              </a:defRPr>
            </a:pPr>
            <a:r>
              <a:rPr sz="2700"/>
              <a:t>Local versus global search: +0.116–0.123 visibility Gini under adaptive rewiring.</a:t>
            </a:r>
          </a:p>
        </p:txBody>
      </p:sp>
      <p:sp>
        <p:nvSpPr>
          <p:cNvPr id="8" name="TextBox 7"/>
          <p:cNvSpPr txBox="1"/>
          <p:nvPr/>
        </p:nvSpPr>
        <p:spPr>
          <a:xfrm>
            <a:off x="914400" y="9070848"/>
            <a:ext cx="16459200" cy="731520"/>
          </a:xfrm>
          <a:prstGeom prst="rect">
            <a:avLst/>
          </a:prstGeom>
          <a:noFill/>
        </p:spPr>
        <p:txBody>
          <a:bodyPr wrap="square" lIns="0" rIns="0" tIns="0" bIns="0">
            <a:spAutoFit/>
          </a:bodyPr>
          <a:lstStyle/>
          <a:p>
            <a:pPr algn="l">
              <a:spcAft>
                <a:spcPts val="400"/>
              </a:spcAft>
              <a:defRPr sz="1900" b="0">
                <a:solidFill>
                  <a:srgbClr val="666666"/>
                </a:solidFill>
                <a:latin typeface="Arial"/>
              </a:defRPr>
            </a:pPr>
            <a:r>
              <a:rPr sz="1900"/>
              <a:t>Matched random turnover produces a similar gap. All nine adaptive–matched extraction CIs include zero.</a:t>
            </a:r>
          </a:p>
          <a:p>
            <a:pPr algn="l">
              <a:spcAft>
                <a:spcPts val="400"/>
              </a:spcAft>
              <a:defRPr sz="1900" b="0">
                <a:solidFill>
                  <a:srgbClr val="666666"/>
                </a:solidFill>
                <a:latin typeface="Arial"/>
              </a:defRPr>
            </a:pPr>
            <a:r>
              <a:rPr sz="1900"/>
              <a:t>100 replicates; final 1,000 training steps; pointwise 95% bootstrap CIs. “Local” means social-graph proximity.</a:t>
            </a:r>
          </a:p>
        </p:txBody>
      </p:sp>
      <p:pic>
        <p:nvPicPr>
          <p:cNvPr id="9" name="Picture 8" descr="organization.png"/>
          <p:cNvPicPr>
            <a:picLocks noChangeAspect="1"/>
          </p:cNvPicPr>
          <p:nvPr/>
        </p:nvPicPr>
        <p:blipFill>
          <a:blip r:embed="rId4"/>
          <a:stretch>
            <a:fillRect/>
          </a:stretch>
        </p:blipFill>
        <p:spPr>
          <a:xfrm>
            <a:off x="457200" y="2377440"/>
            <a:ext cx="17373600" cy="619048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Ecology changes welfare and inequality; adaptive benefits are inconsistent</a:t>
            </a:r>
          </a:p>
        </p:txBody>
      </p:sp>
      <p:sp>
        <p:nvSpPr>
          <p:cNvPr id="3" name="TextBox 2"/>
          <p:cNvSpPr txBox="1"/>
          <p:nvPr/>
        </p:nvSpPr>
        <p:spPr>
          <a:xfrm>
            <a:off x="868680" y="1581912"/>
            <a:ext cx="16550640" cy="777240"/>
          </a:xfrm>
          <a:prstGeom prst="rect">
            <a:avLst/>
          </a:prstGeom>
          <a:noFill/>
        </p:spPr>
        <p:txBody>
          <a:bodyPr wrap="square" lIns="0" rIns="0" tIns="0" bIns="0">
            <a:spAutoFit/>
          </a:bodyPr>
          <a:lstStyle/>
          <a:p>
            <a:pPr algn="l">
              <a:spcAft>
                <a:spcPts val="400"/>
              </a:spcAft>
              <a:defRPr sz="2700" b="0">
                <a:solidFill>
                  <a:srgbClr val="666666"/>
                </a:solidFill>
                <a:latin typeface="Arial"/>
              </a:defRPr>
            </a:pPr>
            <a:r>
              <a:t>Absolute outcomes · 1,000-step fresh-reset evaluation · frozen policies and terminal networks</a:t>
            </a:r>
          </a:p>
        </p:txBody>
      </p:sp>
      <p:sp>
        <p:nvSpPr>
          <p:cNvPr id="4" name="TextBox 3"/>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5" name="TextBox 4"/>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6 / 7</a:t>
            </a:r>
          </a:p>
        </p:txBody>
      </p:sp>
      <p:sp>
        <p:nvSpPr>
          <p:cNvPr id="7" name="TextBox 6"/>
          <p:cNvSpPr txBox="1"/>
          <p:nvPr/>
        </p:nvSpPr>
        <p:spPr>
          <a:xfrm>
            <a:off x="914400" y="8458200"/>
            <a:ext cx="16459200" cy="640080"/>
          </a:xfrm>
          <a:prstGeom prst="rect">
            <a:avLst/>
          </a:prstGeom>
          <a:noFill/>
        </p:spPr>
        <p:txBody>
          <a:bodyPr wrap="square" lIns="0" rIns="0" tIns="0" bIns="0">
            <a:spAutoFit/>
          </a:bodyPr>
          <a:lstStyle/>
          <a:p>
            <a:pPr algn="l">
              <a:spcAft>
                <a:spcPts val="400"/>
              </a:spcAft>
              <a:defRPr sz="2700" b="1">
                <a:solidFill>
                  <a:srgbClr val="111111"/>
                </a:solidFill>
                <a:latin typeface="Arial"/>
              </a:defRPr>
            </a:pPr>
            <a:r>
              <a:rPr sz="2700"/>
              <a:t>Split versus uniform: welfare −9.5 to −11.9 pp; wealth Gini +0.169 to +0.175.</a:t>
            </a:r>
          </a:p>
        </p:txBody>
      </p:sp>
      <p:sp>
        <p:nvSpPr>
          <p:cNvPr id="8" name="TextBox 7"/>
          <p:cNvSpPr txBox="1"/>
          <p:nvPr/>
        </p:nvSpPr>
        <p:spPr>
          <a:xfrm>
            <a:off x="914400" y="9070848"/>
            <a:ext cx="16459200" cy="822960"/>
          </a:xfrm>
          <a:prstGeom prst="rect">
            <a:avLst/>
          </a:prstGeom>
          <a:noFill/>
        </p:spPr>
        <p:txBody>
          <a:bodyPr wrap="square" lIns="0" rIns="0" tIns="0" bIns="0">
            <a:spAutoFit/>
          </a:bodyPr>
          <a:lstStyle/>
          <a:p>
            <a:pPr algn="l">
              <a:spcAft>
                <a:spcPts val="400"/>
              </a:spcAft>
              <a:defRPr sz="1900" b="0">
                <a:solidFill>
                  <a:srgbClr val="666666"/>
                </a:solidFill>
                <a:latin typeface="Arial"/>
              </a:defRPr>
            </a:pPr>
            <a:r>
              <a:rPr sz="1900"/>
              <a:t>Adaptive–matched welfare: only 1 of 9 pointwise CIs excludes zero. Split changes several ecological parameters together.</a:t>
            </a:r>
          </a:p>
          <a:p>
            <a:pPr algn="l">
              <a:spcAft>
                <a:spcPts val="400"/>
              </a:spcAft>
              <a:defRPr sz="1900" b="0">
                <a:solidFill>
                  <a:srgbClr val="666666"/>
                </a:solidFill>
                <a:latin typeface="Arial"/>
              </a:defRPr>
            </a:pPr>
            <a:r>
              <a:rPr sz="1900"/>
              <a:t>Reset matters: mean reserve welfare is 72% after reset versus 26% in continuation. This is not long-run sustainability.</a:t>
            </a:r>
          </a:p>
        </p:txBody>
      </p:sp>
      <p:pic>
        <p:nvPicPr>
          <p:cNvPr id="9" name="Picture 8" descr="outcomes.png"/>
          <p:cNvPicPr>
            <a:picLocks noChangeAspect="1"/>
          </p:cNvPicPr>
          <p:nvPr/>
        </p:nvPicPr>
        <p:blipFill>
          <a:blip r:embed="rId4"/>
          <a:stretch>
            <a:fillRect/>
          </a:stretch>
        </p:blipFill>
        <p:spPr>
          <a:xfrm>
            <a:off x="457200" y="2377440"/>
            <a:ext cx="17373600" cy="61904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76072"/>
            <a:ext cx="16596359" cy="868680"/>
          </a:xfrm>
          <a:prstGeom prst="rect">
            <a:avLst/>
          </a:prstGeom>
          <a:noFill/>
        </p:spPr>
        <p:txBody>
          <a:bodyPr wrap="square" lIns="0" rIns="0" tIns="0" bIns="0">
            <a:spAutoFit/>
          </a:bodyPr>
          <a:lstStyle/>
          <a:p>
            <a:pPr algn="l">
              <a:spcAft>
                <a:spcPts val="400"/>
              </a:spcAft>
              <a:defRPr sz="3800" b="1">
                <a:solidFill>
                  <a:srgbClr val="111111"/>
                </a:solidFill>
                <a:latin typeface="Arial"/>
              </a:defRPr>
            </a:pPr>
            <a:r>
              <a:rPr sz="3800"/>
              <a:t>The next question is when information becomes useful for decisions</a:t>
            </a:r>
          </a:p>
        </p:txBody>
      </p:sp>
      <p:sp>
        <p:nvSpPr>
          <p:cNvPr id="3" name="TextBox 2"/>
          <p:cNvSpPr txBox="1"/>
          <p:nvPr/>
        </p:nvSpPr>
        <p:spPr>
          <a:xfrm>
            <a:off x="868680" y="1581912"/>
            <a:ext cx="16550640" cy="777240"/>
          </a:xfrm>
          <a:prstGeom prst="rect">
            <a:avLst/>
          </a:prstGeom>
          <a:noFill/>
        </p:spPr>
        <p:txBody>
          <a:bodyPr wrap="square" lIns="0" rIns="0" tIns="0" bIns="0">
            <a:spAutoFit/>
          </a:bodyPr>
          <a:lstStyle/>
          <a:p>
            <a:pPr algn="l">
              <a:spcAft>
                <a:spcPts val="400"/>
              </a:spcAft>
              <a:defRPr sz="2700" b="0">
                <a:solidFill>
                  <a:srgbClr val="666666"/>
                </a:solidFill>
                <a:latin typeface="Arial"/>
              </a:defRPr>
            </a:pPr>
            <a:r>
              <a:t>Completed study: ecology → population perception and organization → material consequences</a:t>
            </a:r>
          </a:p>
        </p:txBody>
      </p:sp>
      <p:sp>
        <p:nvSpPr>
          <p:cNvPr id="4" name="TextBox 3"/>
          <p:cNvSpPr txBox="1"/>
          <p:nvPr/>
        </p:nvSpPr>
        <p:spPr>
          <a:xfrm>
            <a:off x="868680" y="9866376"/>
            <a:ext cx="13716000" cy="256032"/>
          </a:xfrm>
          <a:prstGeom prst="rect">
            <a:avLst/>
          </a:prstGeom>
          <a:noFill/>
        </p:spPr>
        <p:txBody>
          <a:bodyPr wrap="square" lIns="0" rIns="0" tIns="0" bIns="0">
            <a:spAutoFit/>
          </a:bodyPr>
          <a:lstStyle/>
          <a:p>
            <a:pPr algn="l">
              <a:spcAft>
                <a:spcPts val="400"/>
              </a:spcAft>
              <a:defRPr sz="1300" b="0">
                <a:solidFill>
                  <a:srgbClr val="666666"/>
                </a:solidFill>
                <a:latin typeface="Arial"/>
              </a:defRPr>
            </a:pPr>
            <a:r>
              <a:t>COGNITIVE TOOLS  /  SUPERVISOR DATA ROUND  /  FULL RUN · SEPTEMBER 2026</a:t>
            </a:r>
          </a:p>
        </p:txBody>
      </p:sp>
      <p:sp>
        <p:nvSpPr>
          <p:cNvPr id="5" name="TextBox 4"/>
          <p:cNvSpPr txBox="1"/>
          <p:nvPr/>
        </p:nvSpPr>
        <p:spPr>
          <a:xfrm>
            <a:off x="16459200" y="9802368"/>
            <a:ext cx="914400" cy="320040"/>
          </a:xfrm>
          <a:prstGeom prst="rect">
            <a:avLst/>
          </a:prstGeom>
          <a:noFill/>
        </p:spPr>
        <p:txBody>
          <a:bodyPr wrap="square" lIns="0" rIns="0" tIns="0" bIns="0">
            <a:spAutoFit/>
          </a:bodyPr>
          <a:lstStyle/>
          <a:p>
            <a:pPr algn="r">
              <a:spcAft>
                <a:spcPts val="400"/>
              </a:spcAft>
              <a:defRPr sz="1500" b="0">
                <a:solidFill>
                  <a:srgbClr val="666666"/>
                </a:solidFill>
                <a:latin typeface="Arial"/>
              </a:defRPr>
            </a:pPr>
            <a:r>
              <a:t>7 / 7</a:t>
            </a:r>
          </a:p>
        </p:txBody>
      </p:sp>
      <p:sp>
        <p:nvSpPr>
          <p:cNvPr id="6" name="Rectangle 5"/>
          <p:cNvSpPr/>
          <p:nvPr/>
        </p:nvSpPr>
        <p:spPr>
          <a:xfrm>
            <a:off x="914400" y="2743200"/>
            <a:ext cx="5074920" cy="34290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2743200"/>
            <a:ext cx="68580" cy="3429000"/>
          </a:xfrm>
          <a:prstGeom prst="rect">
            <a:avLst/>
          </a:prstGeom>
          <a:solidFill>
            <a:srgbClr val="31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4712" y="2926080"/>
            <a:ext cx="466344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What the run establishes</a:t>
            </a:r>
          </a:p>
        </p:txBody>
      </p:sp>
      <p:sp>
        <p:nvSpPr>
          <p:cNvPr id="9" name="TextBox 8"/>
          <p:cNvSpPr txBox="1"/>
          <p:nvPr/>
        </p:nvSpPr>
        <p:spPr>
          <a:xfrm>
            <a:off x="1124712" y="3675887"/>
            <a:ext cx="4663440" cy="239572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Observation rules shift</a:t>
            </a:r>
          </a:p>
          <a:p>
            <a:pPr algn="l">
              <a:spcAft>
                <a:spcPts val="400"/>
              </a:spcAft>
              <a:defRPr sz="2500" b="0">
                <a:solidFill>
                  <a:srgbClr val="111111"/>
                </a:solidFill>
                <a:latin typeface="Arial"/>
              </a:defRPr>
            </a:pPr>
            <a:r>
              <a:t>perception and concentration.</a:t>
            </a:r>
          </a:p>
          <a:p>
            <a:pPr algn="l">
              <a:spcAft>
                <a:spcPts val="400"/>
              </a:spcAft>
              <a:defRPr sz="2500" b="0">
                <a:solidFill>
                  <a:srgbClr val="111111"/>
                </a:solidFill>
                <a:latin typeface="Arial"/>
              </a:defRPr>
            </a:pPr>
          </a:p>
          <a:p>
            <a:pPr algn="l">
              <a:spcAft>
                <a:spcPts val="400"/>
              </a:spcAft>
              <a:defRPr sz="2500" b="0">
                <a:solidFill>
                  <a:srgbClr val="111111"/>
                </a:solidFill>
                <a:latin typeface="Arial"/>
              </a:defRPr>
            </a:pPr>
            <a:r>
              <a:t>Ecology shifts welfare</a:t>
            </a:r>
          </a:p>
          <a:p>
            <a:pPr algn="l">
              <a:spcAft>
                <a:spcPts val="400"/>
              </a:spcAft>
              <a:defRPr sz="2500" b="0">
                <a:solidFill>
                  <a:srgbClr val="111111"/>
                </a:solidFill>
                <a:latin typeface="Arial"/>
              </a:defRPr>
            </a:pPr>
            <a:r>
              <a:t>and wealth inequality.</a:t>
            </a:r>
          </a:p>
        </p:txBody>
      </p:sp>
      <p:sp>
        <p:nvSpPr>
          <p:cNvPr id="10" name="Rectangle 9"/>
          <p:cNvSpPr/>
          <p:nvPr/>
        </p:nvSpPr>
        <p:spPr>
          <a:xfrm>
            <a:off x="6601968" y="2743200"/>
            <a:ext cx="5074920" cy="34290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01968" y="2743200"/>
            <a:ext cx="68580" cy="3429000"/>
          </a:xfrm>
          <a:prstGeom prst="rect">
            <a:avLst/>
          </a:prstGeom>
          <a:solidFill>
            <a:srgbClr val="218F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2926080"/>
            <a:ext cx="466344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What remains unresolved</a:t>
            </a:r>
          </a:p>
        </p:txBody>
      </p:sp>
      <p:sp>
        <p:nvSpPr>
          <p:cNvPr id="13" name="TextBox 12"/>
          <p:cNvSpPr txBox="1"/>
          <p:nvPr/>
        </p:nvSpPr>
        <p:spPr>
          <a:xfrm>
            <a:off x="6812280" y="3675887"/>
            <a:ext cx="4663440" cy="239572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Better population estimates</a:t>
            </a:r>
          </a:p>
          <a:p>
            <a:pPr algn="l">
              <a:spcAft>
                <a:spcPts val="400"/>
              </a:spcAft>
              <a:defRPr sz="2500" b="0">
                <a:solidFill>
                  <a:srgbClr val="111111"/>
                </a:solidFill>
                <a:latin typeface="Arial"/>
              </a:defRPr>
            </a:pPr>
            <a:r>
              <a:t>do not consistently improve</a:t>
            </a:r>
          </a:p>
          <a:p>
            <a:pPr algn="l">
              <a:spcAft>
                <a:spcPts val="400"/>
              </a:spcAft>
              <a:defRPr sz="2500" b="0">
                <a:solidFill>
                  <a:srgbClr val="111111"/>
                </a:solidFill>
                <a:latin typeface="Arial"/>
              </a:defRPr>
            </a:pPr>
          </a:p>
          <a:p>
            <a:pPr algn="l">
              <a:spcAft>
                <a:spcPts val="400"/>
              </a:spcAft>
              <a:defRPr sz="2500" b="0">
                <a:solidFill>
                  <a:srgbClr val="111111"/>
                </a:solidFill>
                <a:latin typeface="Arial"/>
              </a:defRPr>
            </a:pPr>
            <a:r>
              <a:t>local decisions or welfare.</a:t>
            </a:r>
          </a:p>
          <a:p>
            <a:pPr algn="l">
              <a:spcAft>
                <a:spcPts val="400"/>
              </a:spcAft>
              <a:defRPr sz="2500" b="0">
                <a:solidFill>
                  <a:srgbClr val="111111"/>
                </a:solidFill>
                <a:latin typeface="Arial"/>
              </a:defRPr>
            </a:pPr>
            <a:r>
              <a:t>The causal link is untested.</a:t>
            </a:r>
          </a:p>
        </p:txBody>
      </p:sp>
      <p:sp>
        <p:nvSpPr>
          <p:cNvPr id="14" name="Rectangle 13"/>
          <p:cNvSpPr/>
          <p:nvPr/>
        </p:nvSpPr>
        <p:spPr>
          <a:xfrm>
            <a:off x="12298680" y="2743200"/>
            <a:ext cx="5074920" cy="34290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2298680" y="2743200"/>
            <a:ext cx="68580" cy="3429000"/>
          </a:xfrm>
          <a:prstGeom prst="rect">
            <a:avLst/>
          </a:prstGeom>
          <a:solidFill>
            <a:srgbClr val="B887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08992" y="2926080"/>
            <a:ext cx="4663440" cy="640080"/>
          </a:xfrm>
          <a:prstGeom prst="rect">
            <a:avLst/>
          </a:prstGeom>
          <a:noFill/>
        </p:spPr>
        <p:txBody>
          <a:bodyPr wrap="square" lIns="0" rIns="0" tIns="0" bIns="0">
            <a:spAutoFit/>
          </a:bodyPr>
          <a:lstStyle/>
          <a:p>
            <a:pPr algn="l">
              <a:spcAft>
                <a:spcPts val="400"/>
              </a:spcAft>
              <a:defRPr sz="2600" b="1">
                <a:solidFill>
                  <a:srgbClr val="111111"/>
                </a:solidFill>
                <a:latin typeface="Arial"/>
              </a:defRPr>
            </a:pPr>
            <a:r>
              <a:rPr sz="2600"/>
              <a:t>One bounded next study</a:t>
            </a:r>
          </a:p>
        </p:txBody>
      </p:sp>
      <p:sp>
        <p:nvSpPr>
          <p:cNvPr id="17" name="TextBox 16"/>
          <p:cNvSpPr txBox="1"/>
          <p:nvPr/>
        </p:nvSpPr>
        <p:spPr>
          <a:xfrm>
            <a:off x="12508992" y="3675887"/>
            <a:ext cx="4663440" cy="2395728"/>
          </a:xfrm>
          <a:prstGeom prst="rect">
            <a:avLst/>
          </a:prstGeom>
          <a:noFill/>
        </p:spPr>
        <p:txBody>
          <a:bodyPr wrap="square" lIns="0" rIns="0" tIns="0" bIns="0">
            <a:spAutoFit/>
          </a:bodyPr>
          <a:lstStyle/>
          <a:p>
            <a:pPr algn="l">
              <a:spcAft>
                <a:spcPts val="400"/>
              </a:spcAft>
              <a:defRPr sz="2500" b="0">
                <a:solidFill>
                  <a:srgbClr val="111111"/>
                </a:solidFill>
                <a:latin typeface="Arial"/>
              </a:defRPr>
            </a:pPr>
            <a:r>
              <a:t>One Harvest environment;</a:t>
            </a:r>
          </a:p>
          <a:p>
            <a:pPr algn="l">
              <a:spcAft>
                <a:spcPts val="400"/>
              </a:spcAft>
              <a:defRPr sz="2500" b="0">
                <a:solidFill>
                  <a:srgbClr val="111111"/>
                </a:solidFill>
                <a:latin typeface="Arial"/>
              </a:defRPr>
            </a:pPr>
            <a:r>
              <a:t>fixed learner and attention.</a:t>
            </a:r>
          </a:p>
          <a:p>
            <a:pPr algn="l">
              <a:spcAft>
                <a:spcPts val="400"/>
              </a:spcAft>
              <a:defRPr sz="2500" b="0">
                <a:solidFill>
                  <a:srgbClr val="111111"/>
                </a:solidFill>
                <a:latin typeface="Arial"/>
              </a:defRPr>
            </a:pPr>
          </a:p>
          <a:p>
            <a:pPr algn="l">
              <a:spcAft>
                <a:spcPts val="400"/>
              </a:spcAft>
              <a:defRPr sz="2500" b="0">
                <a:solidFill>
                  <a:srgbClr val="111111"/>
                </a:solidFill>
                <a:latin typeface="Arial"/>
              </a:defRPr>
            </a:pPr>
            <a:r>
              <a:t>Informative versus shuffled</a:t>
            </a:r>
          </a:p>
          <a:p>
            <a:pPr algn="l">
              <a:spcAft>
                <a:spcPts val="400"/>
              </a:spcAft>
              <a:defRPr sz="2500" b="0">
                <a:solidFill>
                  <a:srgbClr val="111111"/>
                </a:solidFill>
                <a:latin typeface="Arial"/>
              </a:defRPr>
            </a:pPr>
            <a:r>
              <a:t>signals; matched productivity.</a:t>
            </a:r>
          </a:p>
        </p:txBody>
      </p:sp>
      <p:sp>
        <p:nvSpPr>
          <p:cNvPr id="18" name="TextBox 17"/>
          <p:cNvSpPr txBox="1"/>
          <p:nvPr/>
        </p:nvSpPr>
        <p:spPr>
          <a:xfrm>
            <a:off x="914400" y="6903720"/>
            <a:ext cx="16367759" cy="640080"/>
          </a:xfrm>
          <a:prstGeom prst="rect">
            <a:avLst/>
          </a:prstGeom>
          <a:noFill/>
        </p:spPr>
        <p:txBody>
          <a:bodyPr wrap="square" lIns="0" rIns="0" tIns="0" bIns="0">
            <a:spAutoFit/>
          </a:bodyPr>
          <a:lstStyle/>
          <a:p>
            <a:pPr algn="l">
              <a:spcAft>
                <a:spcPts val="400"/>
              </a:spcAft>
              <a:defRPr sz="3200" b="1">
                <a:solidFill>
                  <a:srgbClr val="111111"/>
                </a:solidFill>
                <a:latin typeface="Arial"/>
              </a:defRPr>
            </a:pPr>
            <a:r>
              <a:t>Feedback I want from you</a:t>
            </a:r>
          </a:p>
        </p:txBody>
      </p:sp>
      <p:sp>
        <p:nvSpPr>
          <p:cNvPr id="19" name="TextBox 18"/>
          <p:cNvSpPr txBox="1"/>
          <p:nvPr/>
        </p:nvSpPr>
        <p:spPr>
          <a:xfrm>
            <a:off x="914400" y="7680960"/>
            <a:ext cx="16276320" cy="1508760"/>
          </a:xfrm>
          <a:prstGeom prst="rect">
            <a:avLst/>
          </a:prstGeom>
          <a:noFill/>
        </p:spPr>
        <p:txBody>
          <a:bodyPr wrap="square" lIns="0" rIns="0" tIns="0" bIns="0">
            <a:spAutoFit/>
          </a:bodyPr>
          <a:lstStyle/>
          <a:p>
            <a:pPr algn="l">
              <a:spcAft>
                <a:spcPts val="400"/>
              </a:spcAft>
              <a:defRPr sz="2500" b="0">
                <a:solidFill>
                  <a:srgbClr val="111111"/>
                </a:solidFill>
                <a:latin typeface="Arial"/>
              </a:defRPr>
            </a:pPr>
            <a:r>
              <a:rPr sz="2500"/>
              <a:t>Are RQ1 and RQ2 clear, and do these measures capture collective organization?</a:t>
            </a:r>
          </a:p>
          <a:p>
            <a:pPr algn="l">
              <a:spcAft>
                <a:spcPts val="400"/>
              </a:spcAft>
              <a:defRPr sz="2500" b="0">
                <a:solidFill>
                  <a:srgbClr val="111111"/>
                </a:solidFill>
                <a:latin typeface="Arial"/>
              </a:defRPr>
            </a:pPr>
            <a:r>
              <a:rPr sz="2500"/>
              <a:t>Should the next hypothesis target decision usefulness rather than global accuracy?</a:t>
            </a:r>
          </a:p>
          <a:p>
            <a:pPr algn="l">
              <a:spcAft>
                <a:spcPts val="400"/>
              </a:spcAft>
              <a:defRPr sz="2500" b="0">
                <a:solidFill>
                  <a:srgbClr val="111111"/>
                </a:solidFill>
                <a:latin typeface="Arial"/>
              </a:defRPr>
            </a:pPr>
            <a:r>
              <a:rPr sz="2500"/>
              <a:t>Would SocialJax Commons Harvest justify migration, or should we retain this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DAHTBmb3liY</dc:identifier>
  <dcterms:modified xsi:type="dcterms:W3CDTF">2011-08-01T06:04:30Z</dcterms:modified>
  <cp:revision>1</cp:revision>
  <dc:title>Ecology, Perception and Collective Organization — Full-run Data Round</dc:title>
  <dc:subject>Seven-slide supervisor presentation of the completed ecology_perception_parallel_v1 campaign</dc:subject>
</cp:coreProperties>
</file>