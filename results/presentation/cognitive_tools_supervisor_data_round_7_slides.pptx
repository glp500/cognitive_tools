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11"/>
    <p:sldId id="257" r:id="rId13"/>
    <p:sldId id="258" r:id="rId14"/>
    <p:sldId id="259" r:id="rId15"/>
    <p:sldId id="260" r:id="rId16"/>
    <p:sldId id="261" r:id="rId17"/>
    <p:sldId id="262" r:id="rId18"/>
  </p:sldIdLst>
  <p:sldSz cx="18288000" cy="10287000"/>
  <p:notesSz cx="6858000" cy="9144000"/>
  <p:embeddedFontLst>
    <p:embeddedFont>
      <p:font typeface="Cy Grotesk V3 Key" charset="1" panose="00000500000000000000"/>
      <p:regular r:id="rId31"/>
    </p:embeddedFont>
    <p:embeddedFont>
      <p:font typeface="Canva Sans" charset="1" panose="020B0503030501040103"/>
      <p:regular r:id="rId32"/>
    </p:embeddedFont>
    <p:embeddedFont>
      <p:font typeface="Arial Bold" charset="1" panose="020B0704020202020204"/>
      <p:regular r:id="rId33"/>
    </p:embeddedFont>
    <p:embeddedFont>
      <p:font typeface="Arial" charset="1" panose="020B0604020202020204"/>
      <p:regular r:id="rId34"/>
    </p:embeddedFont>
    <p:embeddedFont>
      <p:font typeface="Arial Bold Italics" charset="1" panose="020B07040202020902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31" Type="http://schemas.openxmlformats.org/officeDocument/2006/relationships/font" Target="fonts/font31.fntdata"/><Relationship Id="rId32" Type="http://schemas.openxmlformats.org/officeDocument/2006/relationships/font" Target="fonts/font32.fntdata"/><Relationship Id="rId33" Type="http://schemas.openxmlformats.org/officeDocument/2006/relationships/font" Target="fonts/font33.fntdata"/><Relationship Id="rId34" Type="http://schemas.openxmlformats.org/officeDocument/2006/relationships/font" Target="fonts/font34.fntdata"/><Relationship Id="rId35" Type="http://schemas.openxmlformats.org/officeDocument/2006/relationships/font" Target="fonts/font3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request feedback on a focused question and mechanism, not sell a positive result. The hypothesis is directional and is not established by this pilot. Collective organization means measured population patterns in visibility and extraction behavior; it does not mean conscious coordination. Ecology and search scope are conditions, welfare and inequality are consequences. The design is inspired by Schrama et al. (2025), https://doi.org/10.1016/j.isci.2025.112831, and Oh &amp; Schauf (2025), https://doi.org/10.1038/s41598-025-23634-3. No published figure or model result is reproduced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Conceptual diagram; arrows summarize the feedback rather than the exact computation sequence. Training order: form state from current ecology and previous source actions; choose extraction; ecological transition; observe current actions through pre-rewiring graph; prediction error; optional rewiring; forecast update using pre-rewiring observation; next-state and Q update. Error is social surprise, not a truth/correctness label or an assessment of source competence. Current-source removal and replacement are random conditional on an observer being triggered. Agents do not move and do not share Q tables. Information arrows source-&gt;observer. Local search uses sources of sources with global fallback. Related work differs: Oh &amp; Schauf use correctness and DeGroot consensus, whereas this model uses surprise and Q-learning.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Pilot v1: 9 runs x 3 scenarios x 2 populations x 10 replicates = 540 training conditions. Same seed family, ecological and learning settings; adaptive mu=.10, threshold=.25, every 50 steps, social k=4, BA m=2; theta 0,.25,1. R0 event counts match the paired adaptive run at each scenario/population/replicate/time checkpoint. SHA-256 source schedules verified. Primary analysis uses q_learning/fresh_reset/terminal graph, not continuation or reset-initial graph. Capacity maps show seed 42, replicate 0, constructed from the frozen scenario code; maps are illustrative, with shared viridis scale 0-1. Source files: pilot_v1_*/config.json; original commit b0340b10dd33499a714af5c22ab124b05f680a3a, clean. S2 varies attention capacity as well as visibility.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operationalizes collective organization as visibility concentration and prevalence of low-extraction actions. All six rewiring treatments shown, all three ecologies, N=64. Solid=adaptive; dashed=its event-count-matched R0; blue=local, teal=mixed, ochre=global. Each line is a mean of 10 independent replicate trajectories; no smoothing and no inference from line separation. The full N=32 figure is supplied to avoid presenting one population as the whole pilot. Local search visibly concentrates attention, and R0 often tracks the same pattern. This is not evidence that the error trigger uniquely organizes the population. Low extraction remains below one half in the displayed mean trajectories. Source: pilot_v1_*/data/training_timeseries.csv. Design rationale: Oh &amp; Schauf (2025), Fig. 6 separates structure from performance over time; our metrics and mechanism differ. https://pmc.ncbi.nlm.nih.gov/articles/PMC12618610/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Outcome is the replicate-level mean resource/capacity during 1000-step fresh-reset evaluation with frozen terminal graphs and frozen Q policies. Differences are adaptive minus its own exact R0, paired by scenario, population, and replicate. Three panels share the same x range [-5,+5] percentage points. Circle/open=N32; square/filled=N64; row labels are explicit. All 18 comparisons shown. 15 intervals cross zero; this is uncertainty, not proof of equivalence. Three intervals exclude zero: local/split/N32 negative, mixed/split/N64 positive, global/split/N32 positive. They are exploratory, unadjusted intervals, not three confirmed discoveries. All point estimates span -2.105 to +1.497 pp. Underlying means and bootstrap intervals were independently reproduced from raw records. Archive analysis seed 1729, 2000 percentile-bootstrap resamples. Source: paired_adaptive_minus_r0_summary.csv. Replicate outcome distributions are supplied separately, following the distribution-preserving principle illustrated by Schrama et al. (2025), Fig. 2, https://pmc.ncbi.nlm.nih.gov/articles/PMC12226385/. This pilot is not evidence of bistability.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transparent close-up of split_high_low, the ecology where the resource effects change sign; all six scope/population comparisons are shown, not only the favorable one. All-ecology welfare and final-wealth-Gini figures are supplied in figures/. Reserve welfare is energy/capacity, averaged during evaluation; wealth Gini is measured at the final evaluation step. R2/N64 resource effect .010238 (95% CI .004494,.016077), reserve welfare .016240 (.003325,.028887), final wealth Gini .001631 (-.008370,.011563). Percentage points are differences of 0-1 fractions, not relative percent changes. Inequality uses Gini units; negative is less unequal. Outcome dimensions need separate interpretations; the intervals are exploratory and not multiplicity-adjusted. See data/paired_summary.csv and data_audit.json.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discussion, not a claim of confirmation. Keep project scope to renewable ecology, independent extraction learning, limited peer observation, and rewiring. The pilot supports a structural search-scope pattern but does not establish an adaptive sustainability advantage. Ask the supervisor to sharpen a falsifiable prediction about population-level behavior/visibility and its relationship to resources. Avoid scope expansion into technology, inheritance, trade, misinformation, or ecological shocks in this seven-slide argument. Larger confirmatory runs should follow a fixed hypothesis and declared primary comparison, not selection of the most favorable pilot cell. Full source and figure-design rationale: figure_review.md; reproducible build: build_data_round.py; audit: data_audit.json.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76072"/>
            <a:ext cx="16596359" cy="868680"/>
          </a:xfrm>
          <a:prstGeom prst="rect">
            <a:avLst/>
          </a:prstGeom>
          <a:noFill/>
        </p:spPr>
        <p:txBody>
          <a:bodyPr wrap="square" lIns="0" rIns="0" tIns="0" bIns="0">
            <a:spAutoFit/>
          </a:bodyPr>
          <a:lstStyle/>
          <a:p>
            <a:pPr algn="l">
              <a:spcAft>
                <a:spcPts val="400"/>
              </a:spcAft>
              <a:defRPr sz="4050" b="1">
                <a:solidFill>
                  <a:srgbClr val="111111"/>
                </a:solidFill>
                <a:latin typeface="Arial"/>
              </a:defRPr>
            </a:pPr>
            <a:r>
              <a:t>How do local observations become collective outcomes?</a:t>
            </a:r>
          </a:p>
        </p:txBody>
      </p:sp>
      <p:sp>
        <p:nvSpPr>
          <p:cNvPr id="3" name="TextBox 2"/>
          <p:cNvSpPr txBox="1"/>
          <p:nvPr/>
        </p:nvSpPr>
        <p:spPr>
          <a:xfrm>
            <a:off x="868680" y="9866376"/>
            <a:ext cx="13716000" cy="256032"/>
          </a:xfrm>
          <a:prstGeom prst="rect">
            <a:avLst/>
          </a:prstGeom>
          <a:noFill/>
        </p:spPr>
        <p:txBody>
          <a:bodyPr wrap="square" lIns="0" rIns="0" tIns="0" bIns="0">
            <a:spAutoFit/>
          </a:bodyPr>
          <a:lstStyle/>
          <a:p>
            <a:pPr algn="l">
              <a:spcAft>
                <a:spcPts val="400"/>
              </a:spcAft>
              <a:defRPr sz="1300" b="0">
                <a:solidFill>
                  <a:srgbClr val="666666"/>
                </a:solidFill>
                <a:latin typeface="Arial"/>
              </a:defRPr>
            </a:pPr>
            <a:r>
              <a:t>COGNITIVE TOOLS  /  SUPERVISOR DATA ROUND  /  PILOT v1</a:t>
            </a:r>
          </a:p>
        </p:txBody>
      </p:sp>
      <p:sp>
        <p:nvSpPr>
          <p:cNvPr id="4" name="TextBox 3"/>
          <p:cNvSpPr txBox="1"/>
          <p:nvPr/>
        </p:nvSpPr>
        <p:spPr>
          <a:xfrm>
            <a:off x="16459200" y="9802368"/>
            <a:ext cx="914400" cy="320040"/>
          </a:xfrm>
          <a:prstGeom prst="rect">
            <a:avLst/>
          </a:prstGeom>
          <a:noFill/>
        </p:spPr>
        <p:txBody>
          <a:bodyPr wrap="square" lIns="0" rIns="0" tIns="0" bIns="0">
            <a:spAutoFit/>
          </a:bodyPr>
          <a:lstStyle/>
          <a:p>
            <a:pPr algn="r">
              <a:spcAft>
                <a:spcPts val="400"/>
              </a:spcAft>
              <a:defRPr sz="1500" b="0">
                <a:solidFill>
                  <a:srgbClr val="666666"/>
                </a:solidFill>
                <a:latin typeface="Arial"/>
              </a:defRPr>
            </a:pPr>
            <a:r>
              <a:t>1 / 7</a:t>
            </a:r>
          </a:p>
        </p:txBody>
      </p:sp>
      <p:sp>
        <p:nvSpPr>
          <p:cNvPr id="5" name="TextBox 4"/>
          <p:cNvSpPr txBox="1"/>
          <p:nvPr/>
        </p:nvSpPr>
        <p:spPr>
          <a:xfrm>
            <a:off x="914400" y="1874519"/>
            <a:ext cx="16276320" cy="1463040"/>
          </a:xfrm>
          <a:prstGeom prst="rect">
            <a:avLst/>
          </a:prstGeom>
          <a:noFill/>
        </p:spPr>
        <p:txBody>
          <a:bodyPr wrap="square" lIns="0" rIns="0" tIns="0" bIns="0">
            <a:spAutoFit/>
          </a:bodyPr>
          <a:lstStyle/>
          <a:p>
            <a:pPr algn="l">
              <a:spcAft>
                <a:spcPts val="400"/>
              </a:spcAft>
              <a:defRPr sz="3700" b="1">
                <a:solidFill>
                  <a:srgbClr val="111111"/>
                </a:solidFill>
                <a:latin typeface="Arial"/>
              </a:defRPr>
            </a:pPr>
            <a:r>
              <a:t>Can changing whom agents observe produce population-level</a:t>
            </a:r>
          </a:p>
          <a:p>
            <a:pPr algn="l">
              <a:spcAft>
                <a:spcPts val="400"/>
              </a:spcAft>
              <a:defRPr sz="3700" b="1">
                <a:solidFill>
                  <a:srgbClr val="111111"/>
                </a:solidFill>
                <a:latin typeface="Arial"/>
              </a:defRPr>
            </a:pPr>
            <a:r>
              <a:t>patterns that sustain a shared renewable resource?</a:t>
            </a:r>
          </a:p>
        </p:txBody>
      </p:sp>
      <p:sp>
        <p:nvSpPr>
          <p:cNvPr id="6" name="Rectangle 5"/>
          <p:cNvSpPr/>
          <p:nvPr/>
        </p:nvSpPr>
        <p:spPr>
          <a:xfrm>
            <a:off x="914400" y="4069080"/>
            <a:ext cx="4709160" cy="24231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069080"/>
            <a:ext cx="68580" cy="2423160"/>
          </a:xfrm>
          <a:prstGeom prst="rect">
            <a:avLst/>
          </a:prstGeom>
          <a:solidFill>
            <a:srgbClr val="3168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 y="4251960"/>
            <a:ext cx="4297680" cy="640080"/>
          </a:xfrm>
          <a:prstGeom prst="rect">
            <a:avLst/>
          </a:prstGeom>
          <a:noFill/>
        </p:spPr>
        <p:txBody>
          <a:bodyPr wrap="square" lIns="0" rIns="0" tIns="0" bIns="0">
            <a:spAutoFit/>
          </a:bodyPr>
          <a:lstStyle/>
          <a:p>
            <a:pPr algn="l">
              <a:spcAft>
                <a:spcPts val="400"/>
              </a:spcAft>
              <a:defRPr sz="3000" b="1">
                <a:solidFill>
                  <a:srgbClr val="111111"/>
                </a:solidFill>
                <a:latin typeface="Arial"/>
              </a:defRPr>
            </a:pPr>
            <a:r>
              <a:t>Individual observations</a:t>
            </a:r>
          </a:p>
        </p:txBody>
      </p:sp>
      <p:sp>
        <p:nvSpPr>
          <p:cNvPr id="9" name="TextBox 8"/>
          <p:cNvSpPr txBox="1"/>
          <p:nvPr/>
        </p:nvSpPr>
        <p:spPr>
          <a:xfrm>
            <a:off x="1124712" y="5001768"/>
            <a:ext cx="4297680" cy="1389888"/>
          </a:xfrm>
          <a:prstGeom prst="rect">
            <a:avLst/>
          </a:prstGeom>
          <a:noFill/>
        </p:spPr>
        <p:txBody>
          <a:bodyPr wrap="square" lIns="0" rIns="0" tIns="0" bIns="0">
            <a:spAutoFit/>
          </a:bodyPr>
          <a:lstStyle/>
          <a:p>
            <a:pPr algn="l">
              <a:spcAft>
                <a:spcPts val="400"/>
              </a:spcAft>
              <a:defRPr sz="2500" b="0">
                <a:solidFill>
                  <a:srgbClr val="111111"/>
                </a:solidFill>
                <a:latin typeface="Arial"/>
              </a:defRPr>
            </a:pPr>
            <a:r>
              <a:t>What do my selected</a:t>
            </a:r>
          </a:p>
          <a:p>
            <a:pPr algn="l">
              <a:spcAft>
                <a:spcPts val="400"/>
              </a:spcAft>
              <a:defRPr sz="2500" b="0">
                <a:solidFill>
                  <a:srgbClr val="111111"/>
                </a:solidFill>
                <a:latin typeface="Arial"/>
              </a:defRPr>
            </a:pPr>
            <a:r>
              <a:t>information sources do?</a:t>
            </a:r>
          </a:p>
        </p:txBody>
      </p:sp>
      <p:sp>
        <p:nvSpPr>
          <p:cNvPr id="10" name="Rectangle 9"/>
          <p:cNvSpPr/>
          <p:nvPr/>
        </p:nvSpPr>
        <p:spPr>
          <a:xfrm>
            <a:off x="6812280" y="4069080"/>
            <a:ext cx="4709160" cy="24231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12280" y="4069080"/>
            <a:ext cx="68580" cy="2423160"/>
          </a:xfrm>
          <a:prstGeom prst="rect">
            <a:avLst/>
          </a:prstGeom>
          <a:solidFill>
            <a:srgbClr val="218F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22592" y="4251960"/>
            <a:ext cx="4297680" cy="640080"/>
          </a:xfrm>
          <a:prstGeom prst="rect">
            <a:avLst/>
          </a:prstGeom>
          <a:noFill/>
        </p:spPr>
        <p:txBody>
          <a:bodyPr wrap="square" lIns="0" rIns="0" tIns="0" bIns="0">
            <a:spAutoFit/>
          </a:bodyPr>
          <a:lstStyle/>
          <a:p>
            <a:pPr algn="l">
              <a:spcAft>
                <a:spcPts val="400"/>
              </a:spcAft>
              <a:defRPr sz="3000" b="1">
                <a:solidFill>
                  <a:srgbClr val="111111"/>
                </a:solidFill>
                <a:latin typeface="Arial"/>
              </a:defRPr>
            </a:pPr>
            <a:r>
              <a:t>Population-level patterns</a:t>
            </a:r>
          </a:p>
        </p:txBody>
      </p:sp>
      <p:sp>
        <p:nvSpPr>
          <p:cNvPr id="13" name="TextBox 12"/>
          <p:cNvSpPr txBox="1"/>
          <p:nvPr/>
        </p:nvSpPr>
        <p:spPr>
          <a:xfrm>
            <a:off x="7022592" y="5001768"/>
            <a:ext cx="4297680" cy="1389888"/>
          </a:xfrm>
          <a:prstGeom prst="rect">
            <a:avLst/>
          </a:prstGeom>
          <a:noFill/>
        </p:spPr>
        <p:txBody>
          <a:bodyPr wrap="square" lIns="0" rIns="0" tIns="0" bIns="0">
            <a:spAutoFit/>
          </a:bodyPr>
          <a:lstStyle/>
          <a:p>
            <a:pPr algn="l">
              <a:spcAft>
                <a:spcPts val="400"/>
              </a:spcAft>
              <a:defRPr sz="2500" b="0">
                <a:solidFill>
                  <a:srgbClr val="111111"/>
                </a:solidFill>
                <a:latin typeface="Arial"/>
              </a:defRPr>
            </a:pPr>
            <a:r>
              <a:t>Who becomes visible?</a:t>
            </a:r>
          </a:p>
          <a:p>
            <a:pPr algn="l">
              <a:spcAft>
                <a:spcPts val="400"/>
              </a:spcAft>
              <a:defRPr sz="2500" b="0">
                <a:solidFill>
                  <a:srgbClr val="111111"/>
                </a:solidFill>
                <a:latin typeface="Arial"/>
              </a:defRPr>
            </a:pPr>
            <a:r>
              <a:t>Which actions become common?</a:t>
            </a:r>
          </a:p>
        </p:txBody>
      </p:sp>
      <p:sp>
        <p:nvSpPr>
          <p:cNvPr id="14" name="Rectangle 13"/>
          <p:cNvSpPr/>
          <p:nvPr/>
        </p:nvSpPr>
        <p:spPr>
          <a:xfrm>
            <a:off x="12710160" y="4069080"/>
            <a:ext cx="4709160" cy="24231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710160" y="4069080"/>
            <a:ext cx="68580" cy="2423160"/>
          </a:xfrm>
          <a:prstGeom prst="rect">
            <a:avLst/>
          </a:prstGeom>
          <a:solidFill>
            <a:srgbClr val="B887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920472" y="4251960"/>
            <a:ext cx="4297680" cy="640080"/>
          </a:xfrm>
          <a:prstGeom prst="rect">
            <a:avLst/>
          </a:prstGeom>
          <a:noFill/>
        </p:spPr>
        <p:txBody>
          <a:bodyPr wrap="square" lIns="0" rIns="0" tIns="0" bIns="0">
            <a:spAutoFit/>
          </a:bodyPr>
          <a:lstStyle/>
          <a:p>
            <a:pPr algn="l">
              <a:spcAft>
                <a:spcPts val="400"/>
              </a:spcAft>
              <a:defRPr sz="3000" b="1">
                <a:solidFill>
                  <a:srgbClr val="111111"/>
                </a:solidFill>
                <a:latin typeface="Arial"/>
              </a:defRPr>
            </a:pPr>
            <a:r>
              <a:t>Collective outcomes</a:t>
            </a:r>
          </a:p>
        </p:txBody>
      </p:sp>
      <p:sp>
        <p:nvSpPr>
          <p:cNvPr id="17" name="TextBox 16"/>
          <p:cNvSpPr txBox="1"/>
          <p:nvPr/>
        </p:nvSpPr>
        <p:spPr>
          <a:xfrm>
            <a:off x="12920472" y="5001768"/>
            <a:ext cx="4297680" cy="1389888"/>
          </a:xfrm>
          <a:prstGeom prst="rect">
            <a:avLst/>
          </a:prstGeom>
          <a:noFill/>
        </p:spPr>
        <p:txBody>
          <a:bodyPr wrap="square" lIns="0" rIns="0" tIns="0" bIns="0">
            <a:spAutoFit/>
          </a:bodyPr>
          <a:lstStyle/>
          <a:p>
            <a:pPr algn="l">
              <a:spcAft>
                <a:spcPts val="400"/>
              </a:spcAft>
              <a:defRPr sz="2500" b="0">
                <a:solidFill>
                  <a:srgbClr val="111111"/>
                </a:solidFill>
                <a:latin typeface="Arial"/>
              </a:defRPr>
            </a:pPr>
            <a:r>
              <a:t>Resource sustainability</a:t>
            </a:r>
          </a:p>
          <a:p>
            <a:pPr algn="l">
              <a:spcAft>
                <a:spcPts val="400"/>
              </a:spcAft>
              <a:defRPr sz="2500" b="0">
                <a:solidFill>
                  <a:srgbClr val="111111"/>
                </a:solidFill>
                <a:latin typeface="Arial"/>
              </a:defRPr>
            </a:pPr>
            <a:r>
              <a:t>Welfare and inequality</a:t>
            </a:r>
          </a:p>
        </p:txBody>
      </p:sp>
      <p:cxnSp>
        <p:nvCxnSpPr>
          <p:cNvPr id="18" name="Connector 17"/>
          <p:cNvCxnSpPr/>
          <p:nvPr/>
        </p:nvCxnSpPr>
        <p:spPr>
          <a:xfrm>
            <a:off x="5779008" y="5166360"/>
            <a:ext cx="850392" cy="0"/>
          </a:xfrm>
          <a:prstGeom prst="line">
            <a:avLst/>
          </a:prstGeom>
          <a:ln w="2794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667744" y="5166360"/>
            <a:ext cx="859536" cy="0"/>
          </a:xfrm>
          <a:prstGeom prst="line">
            <a:avLst/>
          </a:prstGeom>
          <a:ln w="27940">
            <a:solidFill>
              <a:srgbClr val="666666"/>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14400" y="6995160"/>
            <a:ext cx="2286000" cy="548640"/>
          </a:xfrm>
          <a:prstGeom prst="rect">
            <a:avLst/>
          </a:prstGeom>
          <a:noFill/>
        </p:spPr>
        <p:txBody>
          <a:bodyPr wrap="square" lIns="0" rIns="0" tIns="0" bIns="0">
            <a:spAutoFit/>
          </a:bodyPr>
          <a:lstStyle/>
          <a:p>
            <a:pPr algn="l">
              <a:spcAft>
                <a:spcPts val="400"/>
              </a:spcAft>
              <a:defRPr sz="2100" b="1">
                <a:solidFill>
                  <a:srgbClr val="31688E"/>
                </a:solidFill>
                <a:latin typeface="Arial"/>
              </a:defRPr>
            </a:pPr>
            <a:r>
              <a:t>HYPOTHESIS</a:t>
            </a:r>
          </a:p>
        </p:txBody>
      </p:sp>
      <p:sp>
        <p:nvSpPr>
          <p:cNvPr id="21" name="TextBox 20"/>
          <p:cNvSpPr txBox="1"/>
          <p:nvPr/>
        </p:nvSpPr>
        <p:spPr>
          <a:xfrm>
            <a:off x="914400" y="7635240"/>
            <a:ext cx="16459200" cy="1234440"/>
          </a:xfrm>
          <a:prstGeom prst="rect">
            <a:avLst/>
          </a:prstGeom>
          <a:noFill/>
        </p:spPr>
        <p:txBody>
          <a:bodyPr wrap="square" lIns="0" rIns="0" tIns="0" bIns="0">
            <a:spAutoFit/>
          </a:bodyPr>
          <a:lstStyle/>
          <a:p>
            <a:pPr algn="l">
              <a:spcAft>
                <a:spcPts val="400"/>
              </a:spcAft>
              <a:defRPr sz="3000" b="0">
                <a:solidFill>
                  <a:srgbClr val="111111"/>
                </a:solidFill>
                <a:latin typeface="Arial"/>
              </a:defRPr>
            </a:pPr>
            <a:r>
              <a:t>Prediction-error-driven rewiring produces patterns that improve</a:t>
            </a:r>
          </a:p>
          <a:p>
            <a:pPr algn="l">
              <a:spcAft>
                <a:spcPts val="400"/>
              </a:spcAft>
              <a:defRPr sz="3000" b="0">
                <a:solidFill>
                  <a:srgbClr val="111111"/>
                </a:solidFill>
                <a:latin typeface="Arial"/>
              </a:defRPr>
            </a:pPr>
            <a:r>
              <a:t>sustainability beyond the same amount of random network turnover.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76072"/>
            <a:ext cx="16596359" cy="868680"/>
          </a:xfrm>
          <a:prstGeom prst="rect">
            <a:avLst/>
          </a:prstGeom>
          <a:noFill/>
        </p:spPr>
        <p:txBody>
          <a:bodyPr wrap="square" lIns="0" rIns="0" tIns="0" bIns="0">
            <a:spAutoFit/>
          </a:bodyPr>
          <a:lstStyle/>
          <a:p>
            <a:pPr algn="l">
              <a:spcAft>
                <a:spcPts val="400"/>
              </a:spcAft>
              <a:defRPr sz="4050" b="1">
                <a:solidFill>
                  <a:srgbClr val="111111"/>
                </a:solidFill>
                <a:latin typeface="Arial"/>
              </a:defRPr>
            </a:pPr>
            <a:r>
              <a:t>One feedback loop connects agents, networks, and ecology</a:t>
            </a:r>
          </a:p>
        </p:txBody>
      </p:sp>
      <p:sp>
        <p:nvSpPr>
          <p:cNvPr id="3" name="TextBox 2"/>
          <p:cNvSpPr txBox="1"/>
          <p:nvPr/>
        </p:nvSpPr>
        <p:spPr>
          <a:xfrm>
            <a:off x="868680" y="1581912"/>
            <a:ext cx="16550640" cy="777240"/>
          </a:xfrm>
          <a:prstGeom prst="rect">
            <a:avLst/>
          </a:prstGeom>
          <a:noFill/>
        </p:spPr>
        <p:txBody>
          <a:bodyPr wrap="square" lIns="0" rIns="0" tIns="0" bIns="0">
            <a:spAutoFit/>
          </a:bodyPr>
          <a:lstStyle/>
          <a:p>
            <a:pPr algn="l">
              <a:spcAft>
                <a:spcPts val="400"/>
              </a:spcAft>
              <a:defRPr sz="2700" b="0">
                <a:solidFill>
                  <a:srgbClr val="666666"/>
                </a:solidFill>
                <a:latin typeface="Arial"/>
              </a:defRPr>
            </a:pPr>
            <a:r>
              <a:t>Agents stay in place. Information links can change; resources do not travel along them.</a:t>
            </a:r>
          </a:p>
        </p:txBody>
      </p:sp>
      <p:sp>
        <p:nvSpPr>
          <p:cNvPr id="4" name="TextBox 3"/>
          <p:cNvSpPr txBox="1"/>
          <p:nvPr/>
        </p:nvSpPr>
        <p:spPr>
          <a:xfrm>
            <a:off x="868680" y="9866376"/>
            <a:ext cx="13716000" cy="256032"/>
          </a:xfrm>
          <a:prstGeom prst="rect">
            <a:avLst/>
          </a:prstGeom>
          <a:noFill/>
        </p:spPr>
        <p:txBody>
          <a:bodyPr wrap="square" lIns="0" rIns="0" tIns="0" bIns="0">
            <a:spAutoFit/>
          </a:bodyPr>
          <a:lstStyle/>
          <a:p>
            <a:pPr algn="l">
              <a:spcAft>
                <a:spcPts val="400"/>
              </a:spcAft>
              <a:defRPr sz="1300" b="0">
                <a:solidFill>
                  <a:srgbClr val="666666"/>
                </a:solidFill>
                <a:latin typeface="Arial"/>
              </a:defRPr>
            </a:pPr>
            <a:r>
              <a:t>COGNITIVE TOOLS  /  SUPERVISOR DATA ROUND  /  PILOT v1</a:t>
            </a:r>
          </a:p>
        </p:txBody>
      </p:sp>
      <p:sp>
        <p:nvSpPr>
          <p:cNvPr id="5" name="TextBox 4"/>
          <p:cNvSpPr txBox="1"/>
          <p:nvPr/>
        </p:nvSpPr>
        <p:spPr>
          <a:xfrm>
            <a:off x="16459200" y="9802368"/>
            <a:ext cx="914400" cy="320040"/>
          </a:xfrm>
          <a:prstGeom prst="rect">
            <a:avLst/>
          </a:prstGeom>
          <a:noFill/>
        </p:spPr>
        <p:txBody>
          <a:bodyPr wrap="square" lIns="0" rIns="0" tIns="0" bIns="0">
            <a:spAutoFit/>
          </a:bodyPr>
          <a:lstStyle/>
          <a:p>
            <a:pPr algn="r">
              <a:spcAft>
                <a:spcPts val="400"/>
              </a:spcAft>
              <a:defRPr sz="1500" b="0">
                <a:solidFill>
                  <a:srgbClr val="666666"/>
                </a:solidFill>
                <a:latin typeface="Arial"/>
              </a:defRPr>
            </a:pPr>
            <a:r>
              <a:t>2 / 7</a:t>
            </a:r>
          </a:p>
        </p:txBody>
      </p:sp>
      <p:cxnSp>
        <p:nvCxnSpPr>
          <p:cNvPr id="6" name="Connector 5"/>
          <p:cNvCxnSpPr/>
          <p:nvPr/>
        </p:nvCxnSpPr>
        <p:spPr>
          <a:xfrm>
            <a:off x="1965960" y="3520440"/>
            <a:ext cx="1005840" cy="914400"/>
          </a:xfrm>
          <a:prstGeom prst="line">
            <a:avLst/>
          </a:prstGeom>
          <a:ln w="27940">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2971800" y="3520440"/>
            <a:ext cx="914400" cy="914400"/>
          </a:xfrm>
          <a:prstGeom prst="line">
            <a:avLst/>
          </a:prstGeom>
          <a:ln w="27940">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965960" y="4434840"/>
            <a:ext cx="1005840" cy="960120"/>
          </a:xfrm>
          <a:prstGeom prst="line">
            <a:avLst/>
          </a:prstGeom>
          <a:ln w="27940">
            <a:solidFill>
              <a:srgbClr val="A7A7A7"/>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2971800" y="4434840"/>
            <a:ext cx="914400" cy="960120"/>
          </a:xfrm>
          <a:prstGeom prst="line">
            <a:avLst/>
          </a:prstGeom>
          <a:ln w="27940">
            <a:solidFill>
              <a:srgbClr val="218F8D"/>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737360" y="3291840"/>
            <a:ext cx="502920" cy="502920"/>
          </a:xfrm>
          <a:prstGeom prst="ellipse">
            <a:avLst/>
          </a:prstGeom>
          <a:solidFill>
            <a:srgbClr val="316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57600" y="3291840"/>
            <a:ext cx="502920" cy="502920"/>
          </a:xfrm>
          <a:prstGeom prst="ellipse">
            <a:avLst/>
          </a:prstGeom>
          <a:solidFill>
            <a:srgbClr val="316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37360" y="5166360"/>
            <a:ext cx="502920" cy="502920"/>
          </a:xfrm>
          <a:prstGeom prst="ellipse">
            <a:avLst/>
          </a:prstGeom>
          <a:solidFill>
            <a:srgbClr val="316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57600" y="5166360"/>
            <a:ext cx="502920" cy="502920"/>
          </a:xfrm>
          <a:prstGeom prst="ellipse">
            <a:avLst/>
          </a:prstGeom>
          <a:solidFill>
            <a:srgbClr val="316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743200" y="4206240"/>
            <a:ext cx="502920" cy="502920"/>
          </a:xfrm>
          <a:prstGeom prst="ellipse">
            <a:avLst/>
          </a:prstGeom>
          <a:solidFill>
            <a:srgbClr val="218F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6537960"/>
            <a:ext cx="4434840" cy="1005840"/>
          </a:xfrm>
          <a:prstGeom prst="rect">
            <a:avLst/>
          </a:prstGeom>
          <a:noFill/>
        </p:spPr>
        <p:txBody>
          <a:bodyPr wrap="square" lIns="0" rIns="0" tIns="0" bIns="0">
            <a:spAutoFit/>
          </a:bodyPr>
          <a:lstStyle/>
          <a:p>
            <a:pPr algn="ctr">
              <a:spcAft>
                <a:spcPts val="400"/>
              </a:spcAft>
              <a:defRPr sz="2700" b="1">
                <a:solidFill>
                  <a:srgbClr val="111111"/>
                </a:solidFill>
                <a:latin typeface="Arial"/>
              </a:defRPr>
            </a:pPr>
            <a:r>
              <a:t>Observe previous actions</a:t>
            </a:r>
          </a:p>
          <a:p>
            <a:pPr algn="ctr">
              <a:spcAft>
                <a:spcPts val="400"/>
              </a:spcAft>
              <a:defRPr sz="2700" b="1">
                <a:solidFill>
                  <a:srgbClr val="111111"/>
                </a:solidFill>
                <a:latin typeface="Arial"/>
              </a:defRPr>
            </a:pPr>
            <a:r>
              <a:t>of a few selected sources</a:t>
            </a:r>
          </a:p>
        </p:txBody>
      </p:sp>
      <p:sp>
        <p:nvSpPr>
          <p:cNvPr id="16" name="TextBox 15"/>
          <p:cNvSpPr txBox="1"/>
          <p:nvPr/>
        </p:nvSpPr>
        <p:spPr>
          <a:xfrm>
            <a:off x="1143000" y="7744968"/>
            <a:ext cx="4297680" cy="822960"/>
          </a:xfrm>
          <a:prstGeom prst="rect">
            <a:avLst/>
          </a:prstGeom>
          <a:noFill/>
        </p:spPr>
        <p:txBody>
          <a:bodyPr wrap="square" lIns="0" rIns="0" tIns="0" bIns="0">
            <a:spAutoFit/>
          </a:bodyPr>
          <a:lstStyle/>
          <a:p>
            <a:pPr algn="ctr">
              <a:spcAft>
                <a:spcPts val="400"/>
              </a:spcAft>
              <a:defRPr sz="2000" b="0">
                <a:solidFill>
                  <a:srgbClr val="666666"/>
                </a:solidFill>
                <a:latin typeface="Arial"/>
              </a:defRPr>
            </a:pPr>
            <a:r>
              <a:t>Schematic: arrows carry</a:t>
            </a:r>
          </a:p>
          <a:p>
            <a:pPr algn="ctr">
              <a:spcAft>
                <a:spcPts val="400"/>
              </a:spcAft>
              <a:defRPr sz="2000" b="0">
                <a:solidFill>
                  <a:srgbClr val="666666"/>
                </a:solidFill>
                <a:latin typeface="Arial"/>
              </a:defRPr>
            </a:pPr>
            <a:r>
              <a:t>information to the focal agent.</a:t>
            </a:r>
          </a:p>
        </p:txBody>
      </p:sp>
      <p:sp>
        <p:nvSpPr>
          <p:cNvPr id="17" name="Rectangle 16"/>
          <p:cNvSpPr/>
          <p:nvPr/>
        </p:nvSpPr>
        <p:spPr>
          <a:xfrm>
            <a:off x="6400800" y="2834640"/>
            <a:ext cx="4709160" cy="21031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2834640"/>
            <a:ext cx="68580" cy="2103120"/>
          </a:xfrm>
          <a:prstGeom prst="rect">
            <a:avLst/>
          </a:prstGeom>
          <a:solidFill>
            <a:srgbClr val="3168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11112" y="3017520"/>
            <a:ext cx="4297680" cy="640080"/>
          </a:xfrm>
          <a:prstGeom prst="rect">
            <a:avLst/>
          </a:prstGeom>
          <a:noFill/>
        </p:spPr>
        <p:txBody>
          <a:bodyPr wrap="square" lIns="0" rIns="0" tIns="0" bIns="0">
            <a:spAutoFit/>
          </a:bodyPr>
          <a:lstStyle/>
          <a:p>
            <a:pPr algn="l">
              <a:spcAft>
                <a:spcPts val="400"/>
              </a:spcAft>
              <a:defRPr sz="3000" b="1">
                <a:solidFill>
                  <a:srgbClr val="111111"/>
                </a:solidFill>
                <a:latin typeface="Arial"/>
              </a:defRPr>
            </a:pPr>
            <a:r>
              <a:t>Learn extraction</a:t>
            </a:r>
          </a:p>
        </p:txBody>
      </p:sp>
      <p:sp>
        <p:nvSpPr>
          <p:cNvPr id="20" name="TextBox 19"/>
          <p:cNvSpPr txBox="1"/>
          <p:nvPr/>
        </p:nvSpPr>
        <p:spPr>
          <a:xfrm>
            <a:off x="6611112" y="3767328"/>
            <a:ext cx="4297680" cy="1069848"/>
          </a:xfrm>
          <a:prstGeom prst="rect">
            <a:avLst/>
          </a:prstGeom>
          <a:noFill/>
        </p:spPr>
        <p:txBody>
          <a:bodyPr wrap="square" lIns="0" rIns="0" tIns="0" bIns="0">
            <a:spAutoFit/>
          </a:bodyPr>
          <a:lstStyle/>
          <a:p>
            <a:pPr algn="l">
              <a:spcAft>
                <a:spcPts val="400"/>
              </a:spcAft>
              <a:defRPr sz="2500" b="0">
                <a:solidFill>
                  <a:srgbClr val="111111"/>
                </a:solidFill>
                <a:latin typeface="Arial"/>
              </a:defRPr>
            </a:pPr>
            <a:r>
              <a:t>Local resource state +</a:t>
            </a:r>
          </a:p>
          <a:p>
            <a:pPr algn="l">
              <a:spcAft>
                <a:spcPts val="400"/>
              </a:spcAft>
              <a:defRPr sz="2500" b="0">
                <a:solidFill>
                  <a:srgbClr val="111111"/>
                </a:solidFill>
                <a:latin typeface="Arial"/>
              </a:defRPr>
            </a:pPr>
            <a:r>
              <a:t>observed peer behavior</a:t>
            </a:r>
          </a:p>
        </p:txBody>
      </p:sp>
      <p:sp>
        <p:nvSpPr>
          <p:cNvPr id="21" name="Rectangle 20"/>
          <p:cNvSpPr/>
          <p:nvPr/>
        </p:nvSpPr>
        <p:spPr>
          <a:xfrm>
            <a:off x="12527280" y="2834640"/>
            <a:ext cx="4709160" cy="21031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527280" y="2834640"/>
            <a:ext cx="68580" cy="2103120"/>
          </a:xfrm>
          <a:prstGeom prst="rect">
            <a:avLst/>
          </a:prstGeom>
          <a:solidFill>
            <a:srgbClr val="B887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737592" y="3017520"/>
            <a:ext cx="4297680" cy="640080"/>
          </a:xfrm>
          <a:prstGeom prst="rect">
            <a:avLst/>
          </a:prstGeom>
          <a:noFill/>
        </p:spPr>
        <p:txBody>
          <a:bodyPr wrap="square" lIns="0" rIns="0" tIns="0" bIns="0">
            <a:spAutoFit/>
          </a:bodyPr>
          <a:lstStyle/>
          <a:p>
            <a:pPr algn="l">
              <a:spcAft>
                <a:spcPts val="400"/>
              </a:spcAft>
              <a:defRPr sz="3000" b="1">
                <a:solidFill>
                  <a:srgbClr val="111111"/>
                </a:solidFill>
                <a:latin typeface="Arial"/>
              </a:defRPr>
            </a:pPr>
            <a:r>
              <a:t>Resource renewal</a:t>
            </a:r>
          </a:p>
        </p:txBody>
      </p:sp>
      <p:sp>
        <p:nvSpPr>
          <p:cNvPr id="24" name="TextBox 23"/>
          <p:cNvSpPr txBox="1"/>
          <p:nvPr/>
        </p:nvSpPr>
        <p:spPr>
          <a:xfrm>
            <a:off x="12737592" y="3767328"/>
            <a:ext cx="4297680" cy="1069848"/>
          </a:xfrm>
          <a:prstGeom prst="rect">
            <a:avLst/>
          </a:prstGeom>
          <a:noFill/>
        </p:spPr>
        <p:txBody>
          <a:bodyPr wrap="square" lIns="0" rIns="0" tIns="0" bIns="0">
            <a:spAutoFit/>
          </a:bodyPr>
          <a:lstStyle/>
          <a:p>
            <a:pPr algn="l">
              <a:spcAft>
                <a:spcPts val="400"/>
              </a:spcAft>
              <a:defRPr sz="2500" b="0">
                <a:solidFill>
                  <a:srgbClr val="111111"/>
                </a:solidFill>
                <a:latin typeface="Arial"/>
              </a:defRPr>
            </a:pPr>
            <a:r>
              <a:t>Low or high extraction;</a:t>
            </a:r>
          </a:p>
          <a:p>
            <a:pPr algn="l">
              <a:spcAft>
                <a:spcPts val="400"/>
              </a:spcAft>
              <a:defRPr sz="2500" b="0">
                <a:solidFill>
                  <a:srgbClr val="111111"/>
                </a:solidFill>
                <a:latin typeface="Arial"/>
              </a:defRPr>
            </a:pPr>
            <a:r>
              <a:t>renewal and spatial coupling</a:t>
            </a:r>
          </a:p>
        </p:txBody>
      </p:sp>
      <p:sp>
        <p:nvSpPr>
          <p:cNvPr id="25" name="Rectangle 24"/>
          <p:cNvSpPr/>
          <p:nvPr/>
        </p:nvSpPr>
        <p:spPr>
          <a:xfrm>
            <a:off x="12527280" y="6035040"/>
            <a:ext cx="4709160" cy="23317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527280" y="6035040"/>
            <a:ext cx="68580" cy="2331720"/>
          </a:xfrm>
          <a:prstGeom prst="rect">
            <a:avLst/>
          </a:prstGeom>
          <a:solidFill>
            <a:srgbClr val="218F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737592" y="6217920"/>
            <a:ext cx="4297680" cy="640080"/>
          </a:xfrm>
          <a:prstGeom prst="rect">
            <a:avLst/>
          </a:prstGeom>
          <a:noFill/>
        </p:spPr>
        <p:txBody>
          <a:bodyPr wrap="square" lIns="0" rIns="0" tIns="0" bIns="0">
            <a:spAutoFit/>
          </a:bodyPr>
          <a:lstStyle/>
          <a:p>
            <a:pPr algn="l">
              <a:spcAft>
                <a:spcPts val="400"/>
              </a:spcAft>
              <a:defRPr sz="3000" b="1">
                <a:solidFill>
                  <a:srgbClr val="111111"/>
                </a:solidFill>
                <a:latin typeface="Arial"/>
              </a:defRPr>
            </a:pPr>
            <a:r>
              <a:t>Predict and compare</a:t>
            </a:r>
          </a:p>
        </p:txBody>
      </p:sp>
      <p:sp>
        <p:nvSpPr>
          <p:cNvPr id="28" name="TextBox 27"/>
          <p:cNvSpPr txBox="1"/>
          <p:nvPr/>
        </p:nvSpPr>
        <p:spPr>
          <a:xfrm>
            <a:off x="12737592" y="6967727"/>
            <a:ext cx="4297680" cy="1298448"/>
          </a:xfrm>
          <a:prstGeom prst="rect">
            <a:avLst/>
          </a:prstGeom>
          <a:noFill/>
        </p:spPr>
        <p:txBody>
          <a:bodyPr wrap="square" lIns="0" rIns="0" tIns="0" bIns="0">
            <a:spAutoFit/>
          </a:bodyPr>
          <a:lstStyle/>
          <a:p>
            <a:pPr algn="l">
              <a:spcAft>
                <a:spcPts val="400"/>
              </a:spcAft>
              <a:defRPr sz="2500" b="0">
                <a:solidFill>
                  <a:srgbClr val="111111"/>
                </a:solidFill>
                <a:latin typeface="Arial"/>
              </a:defRPr>
            </a:pPr>
            <a:r>
              <a:t>Expected vs. observed</a:t>
            </a:r>
          </a:p>
          <a:p>
            <a:pPr algn="l">
              <a:spcAft>
                <a:spcPts val="400"/>
              </a:spcAft>
              <a:defRPr sz="2500" b="0">
                <a:solidFill>
                  <a:srgbClr val="111111"/>
                </a:solidFill>
                <a:latin typeface="Arial"/>
              </a:defRPr>
            </a:pPr>
            <a:r>
              <a:t>peer behavior → local surprise</a:t>
            </a:r>
          </a:p>
        </p:txBody>
      </p:sp>
      <p:sp>
        <p:nvSpPr>
          <p:cNvPr id="29" name="Rectangle 28"/>
          <p:cNvSpPr/>
          <p:nvPr/>
        </p:nvSpPr>
        <p:spPr>
          <a:xfrm>
            <a:off x="6400800" y="6035040"/>
            <a:ext cx="4709160" cy="23317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0" y="6035040"/>
            <a:ext cx="68580" cy="2331720"/>
          </a:xfrm>
          <a:prstGeom prst="rect">
            <a:avLst/>
          </a:prstGeom>
          <a:solidFill>
            <a:srgbClr val="218F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11112" y="6217920"/>
            <a:ext cx="4297680" cy="640080"/>
          </a:xfrm>
          <a:prstGeom prst="rect">
            <a:avLst/>
          </a:prstGeom>
          <a:noFill/>
        </p:spPr>
        <p:txBody>
          <a:bodyPr wrap="square" lIns="0" rIns="0" tIns="0" bIns="0">
            <a:spAutoFit/>
          </a:bodyPr>
          <a:lstStyle/>
          <a:p>
            <a:pPr algn="l">
              <a:spcAft>
                <a:spcPts val="400"/>
              </a:spcAft>
              <a:defRPr sz="3000" b="1">
                <a:solidFill>
                  <a:srgbClr val="111111"/>
                </a:solidFill>
                <a:latin typeface="Arial"/>
              </a:defRPr>
            </a:pPr>
            <a:r>
              <a:t>Replace a source</a:t>
            </a:r>
          </a:p>
        </p:txBody>
      </p:sp>
      <p:sp>
        <p:nvSpPr>
          <p:cNvPr id="32" name="TextBox 31"/>
          <p:cNvSpPr txBox="1"/>
          <p:nvPr/>
        </p:nvSpPr>
        <p:spPr>
          <a:xfrm>
            <a:off x="6611112" y="6967727"/>
            <a:ext cx="4297680" cy="1298448"/>
          </a:xfrm>
          <a:prstGeom prst="rect">
            <a:avLst/>
          </a:prstGeom>
          <a:noFill/>
        </p:spPr>
        <p:txBody>
          <a:bodyPr wrap="square" lIns="0" rIns="0" tIns="0" bIns="0">
            <a:spAutoFit/>
          </a:bodyPr>
          <a:lstStyle/>
          <a:p>
            <a:pPr algn="l">
              <a:spcAft>
                <a:spcPts val="400"/>
              </a:spcAft>
              <a:defRPr sz="2500" b="0">
                <a:solidFill>
                  <a:srgbClr val="111111"/>
                </a:solidFill>
                <a:latin typeface="Arial"/>
              </a:defRPr>
            </a:pPr>
            <a:r>
              <a:t>If surprise is high:</a:t>
            </a:r>
          </a:p>
          <a:p>
            <a:pPr algn="l">
              <a:spcAft>
                <a:spcPts val="400"/>
              </a:spcAft>
              <a:defRPr sz="2500" b="0">
                <a:solidFill>
                  <a:srgbClr val="111111"/>
                </a:solidFill>
                <a:latin typeface="Arial"/>
              </a:defRPr>
            </a:pPr>
            <a:r>
              <a:t>local or global search</a:t>
            </a:r>
          </a:p>
        </p:txBody>
      </p:sp>
      <p:cxnSp>
        <p:nvCxnSpPr>
          <p:cNvPr id="33" name="Connector 32"/>
          <p:cNvCxnSpPr/>
          <p:nvPr/>
        </p:nvCxnSpPr>
        <p:spPr>
          <a:xfrm>
            <a:off x="4892040" y="4023360"/>
            <a:ext cx="1280160" cy="0"/>
          </a:xfrm>
          <a:prstGeom prst="line">
            <a:avLst/>
          </a:prstGeom>
          <a:ln w="2794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320272" y="3840480"/>
            <a:ext cx="978408" cy="0"/>
          </a:xfrm>
          <a:prstGeom prst="line">
            <a:avLst/>
          </a:prstGeom>
          <a:ln w="27940">
            <a:solidFill>
              <a:srgbClr val="666666"/>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813280" y="5166360"/>
            <a:ext cx="0" cy="630936"/>
          </a:xfrm>
          <a:prstGeom prst="line">
            <a:avLst/>
          </a:prstGeom>
          <a:ln w="27940">
            <a:solidFill>
              <a:srgbClr val="B88718"/>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1338560" y="7223760"/>
            <a:ext cx="960120" cy="0"/>
          </a:xfrm>
          <a:prstGeom prst="line">
            <a:avLst/>
          </a:prstGeom>
          <a:ln w="27940">
            <a:solidFill>
              <a:srgbClr val="218F8D"/>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349240" y="7223760"/>
            <a:ext cx="822960" cy="0"/>
          </a:xfrm>
          <a:prstGeom prst="line">
            <a:avLst/>
          </a:prstGeom>
          <a:ln w="27940">
            <a:solidFill>
              <a:srgbClr val="218F8D"/>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349240" y="4892040"/>
            <a:ext cx="0" cy="2331720"/>
          </a:xfrm>
          <a:prstGeom prst="line">
            <a:avLst/>
          </a:prstGeom>
          <a:ln w="27940">
            <a:solidFill>
              <a:srgbClr val="218F8D"/>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400800" y="8887968"/>
            <a:ext cx="10789920" cy="548640"/>
          </a:xfrm>
          <a:prstGeom prst="rect">
            <a:avLst/>
          </a:prstGeom>
          <a:noFill/>
        </p:spPr>
        <p:txBody>
          <a:bodyPr wrap="square" lIns="0" rIns="0" tIns="0" bIns="0">
            <a:spAutoFit/>
          </a:bodyPr>
          <a:lstStyle/>
          <a:p>
            <a:pPr algn="l">
              <a:spcAft>
                <a:spcPts val="400"/>
              </a:spcAft>
              <a:defRPr sz="2300" b="1">
                <a:solidFill>
                  <a:srgbClr val="111111"/>
                </a:solidFill>
                <a:latin typeface="Arial"/>
              </a:defRPr>
            </a:pPr>
            <a:r>
              <a:t>Reward = own realized harvest. Sustainability is measured, not rewarded.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76072"/>
            <a:ext cx="16596359" cy="868680"/>
          </a:xfrm>
          <a:prstGeom prst="rect">
            <a:avLst/>
          </a:prstGeom>
          <a:noFill/>
        </p:spPr>
        <p:txBody>
          <a:bodyPr wrap="square" lIns="0" rIns="0" tIns="0" bIns="0">
            <a:spAutoFit/>
          </a:bodyPr>
          <a:lstStyle/>
          <a:p>
            <a:pPr algn="l">
              <a:spcAft>
                <a:spcPts val="400"/>
              </a:spcAft>
              <a:defRPr sz="4050" b="1">
                <a:solidFill>
                  <a:srgbClr val="111111"/>
                </a:solidFill>
                <a:latin typeface="Arial"/>
              </a:defRPr>
            </a:pPr>
            <a:r>
              <a:t>The key test holds the amount of rewiring constant</a:t>
            </a:r>
          </a:p>
        </p:txBody>
      </p:sp>
      <p:sp>
        <p:nvSpPr>
          <p:cNvPr id="3" name="TextBox 2"/>
          <p:cNvSpPr txBox="1"/>
          <p:nvPr/>
        </p:nvSpPr>
        <p:spPr>
          <a:xfrm>
            <a:off x="868680" y="1581912"/>
            <a:ext cx="16550640" cy="777240"/>
          </a:xfrm>
          <a:prstGeom prst="rect">
            <a:avLst/>
          </a:prstGeom>
          <a:noFill/>
        </p:spPr>
        <p:txBody>
          <a:bodyPr wrap="square" lIns="0" rIns="0" tIns="0" bIns="0">
            <a:spAutoFit/>
          </a:bodyPr>
          <a:lstStyle/>
          <a:p>
            <a:pPr algn="l">
              <a:spcAft>
                <a:spcPts val="400"/>
              </a:spcAft>
              <a:defRPr sz="2700" b="0">
                <a:solidFill>
                  <a:srgbClr val="666666"/>
                </a:solidFill>
                <a:latin typeface="Arial"/>
              </a:defRPr>
            </a:pPr>
            <a:r>
              <a:t>Adaptive rewiring versus matched random turnover, within the same ecological condition.</a:t>
            </a:r>
          </a:p>
        </p:txBody>
      </p:sp>
      <p:sp>
        <p:nvSpPr>
          <p:cNvPr id="4" name="TextBox 3"/>
          <p:cNvSpPr txBox="1"/>
          <p:nvPr/>
        </p:nvSpPr>
        <p:spPr>
          <a:xfrm>
            <a:off x="868680" y="9866376"/>
            <a:ext cx="13716000" cy="256032"/>
          </a:xfrm>
          <a:prstGeom prst="rect">
            <a:avLst/>
          </a:prstGeom>
          <a:noFill/>
        </p:spPr>
        <p:txBody>
          <a:bodyPr wrap="square" lIns="0" rIns="0" tIns="0" bIns="0">
            <a:spAutoFit/>
          </a:bodyPr>
          <a:lstStyle/>
          <a:p>
            <a:pPr algn="l">
              <a:spcAft>
                <a:spcPts val="400"/>
              </a:spcAft>
              <a:defRPr sz="1300" b="0">
                <a:solidFill>
                  <a:srgbClr val="666666"/>
                </a:solidFill>
                <a:latin typeface="Arial"/>
              </a:defRPr>
            </a:pPr>
            <a:r>
              <a:t>COGNITIVE TOOLS  /  SUPERVISOR DATA ROUND  /  PILOT v1</a:t>
            </a:r>
          </a:p>
        </p:txBody>
      </p:sp>
      <p:sp>
        <p:nvSpPr>
          <p:cNvPr id="5" name="TextBox 4"/>
          <p:cNvSpPr txBox="1"/>
          <p:nvPr/>
        </p:nvSpPr>
        <p:spPr>
          <a:xfrm>
            <a:off x="16459200" y="9802368"/>
            <a:ext cx="914400" cy="320040"/>
          </a:xfrm>
          <a:prstGeom prst="rect">
            <a:avLst/>
          </a:prstGeom>
          <a:noFill/>
        </p:spPr>
        <p:txBody>
          <a:bodyPr wrap="square" lIns="0" rIns="0" tIns="0" bIns="0">
            <a:spAutoFit/>
          </a:bodyPr>
          <a:lstStyle/>
          <a:p>
            <a:pPr algn="r">
              <a:spcAft>
                <a:spcPts val="400"/>
              </a:spcAft>
              <a:defRPr sz="1500" b="0">
                <a:solidFill>
                  <a:srgbClr val="666666"/>
                </a:solidFill>
                <a:latin typeface="Arial"/>
              </a:defRPr>
            </a:pPr>
            <a:r>
              <a:t>3 / 7</a:t>
            </a:r>
          </a:p>
        </p:txBody>
      </p:sp>
      <p:sp>
        <p:nvSpPr>
          <p:cNvPr id="6" name="TextBox 5"/>
          <p:cNvSpPr txBox="1"/>
          <p:nvPr/>
        </p:nvSpPr>
        <p:spPr>
          <a:xfrm>
            <a:off x="914400" y="2560320"/>
            <a:ext cx="8138160" cy="548640"/>
          </a:xfrm>
          <a:prstGeom prst="rect">
            <a:avLst/>
          </a:prstGeom>
          <a:noFill/>
        </p:spPr>
        <p:txBody>
          <a:bodyPr wrap="square" lIns="0" rIns="0" tIns="0" bIns="0">
            <a:spAutoFit/>
          </a:bodyPr>
          <a:lstStyle/>
          <a:p>
            <a:pPr algn="l">
              <a:spcAft>
                <a:spcPts val="400"/>
              </a:spcAft>
              <a:defRPr sz="2800" b="1">
                <a:solidFill>
                  <a:srgbClr val="111111"/>
                </a:solidFill>
                <a:latin typeface="Arial"/>
              </a:defRPr>
            </a:pPr>
            <a:r>
              <a:t>Three reference conditions</a:t>
            </a:r>
          </a:p>
        </p:txBody>
      </p:sp>
      <p:sp>
        <p:nvSpPr>
          <p:cNvPr id="7" name="TextBox 6"/>
          <p:cNvSpPr txBox="1"/>
          <p:nvPr/>
        </p:nvSpPr>
        <p:spPr>
          <a:xfrm>
            <a:off x="960120" y="3383280"/>
            <a:ext cx="914400" cy="502920"/>
          </a:xfrm>
          <a:prstGeom prst="rect">
            <a:avLst/>
          </a:prstGeom>
          <a:noFill/>
        </p:spPr>
        <p:txBody>
          <a:bodyPr wrap="square" lIns="0" rIns="0" tIns="0" bIns="0">
            <a:spAutoFit/>
          </a:bodyPr>
          <a:lstStyle/>
          <a:p>
            <a:pPr algn="l">
              <a:spcAft>
                <a:spcPts val="400"/>
              </a:spcAft>
              <a:defRPr sz="2900" b="1">
                <a:solidFill>
                  <a:srgbClr val="111111"/>
                </a:solidFill>
                <a:latin typeface="Arial"/>
              </a:defRPr>
            </a:pPr>
            <a:r>
              <a:t>B0</a:t>
            </a:r>
          </a:p>
        </p:txBody>
      </p:sp>
      <p:sp>
        <p:nvSpPr>
          <p:cNvPr id="8" name="TextBox 7"/>
          <p:cNvSpPr txBox="1"/>
          <p:nvPr/>
        </p:nvSpPr>
        <p:spPr>
          <a:xfrm>
            <a:off x="2103120" y="3383280"/>
            <a:ext cx="6858000" cy="640080"/>
          </a:xfrm>
          <a:prstGeom prst="rect">
            <a:avLst/>
          </a:prstGeom>
          <a:noFill/>
        </p:spPr>
        <p:txBody>
          <a:bodyPr wrap="square" lIns="0" rIns="0" tIns="0" bIns="0">
            <a:spAutoFit/>
          </a:bodyPr>
          <a:lstStyle/>
          <a:p>
            <a:pPr algn="l">
              <a:spcAft>
                <a:spcPts val="400"/>
              </a:spcAft>
              <a:defRPr sz="2700" b="0">
                <a:solidFill>
                  <a:srgbClr val="111111"/>
                </a:solidFill>
                <a:latin typeface="Arial"/>
              </a:defRPr>
            </a:pPr>
            <a:r>
              <a:t>Ecological learning only</a:t>
            </a:r>
          </a:p>
        </p:txBody>
      </p:sp>
      <p:sp>
        <p:nvSpPr>
          <p:cNvPr id="9" name="TextBox 8"/>
          <p:cNvSpPr txBox="1"/>
          <p:nvPr/>
        </p:nvSpPr>
        <p:spPr>
          <a:xfrm>
            <a:off x="960120" y="4160520"/>
            <a:ext cx="914400" cy="502920"/>
          </a:xfrm>
          <a:prstGeom prst="rect">
            <a:avLst/>
          </a:prstGeom>
          <a:noFill/>
        </p:spPr>
        <p:txBody>
          <a:bodyPr wrap="square" lIns="0" rIns="0" tIns="0" bIns="0">
            <a:spAutoFit/>
          </a:bodyPr>
          <a:lstStyle/>
          <a:p>
            <a:pPr algn="l">
              <a:spcAft>
                <a:spcPts val="400"/>
              </a:spcAft>
              <a:defRPr sz="2900" b="1">
                <a:solidFill>
                  <a:srgbClr val="111111"/>
                </a:solidFill>
                <a:latin typeface="Arial"/>
              </a:defRPr>
            </a:pPr>
            <a:r>
              <a:t>S1</a:t>
            </a:r>
          </a:p>
        </p:txBody>
      </p:sp>
      <p:sp>
        <p:nvSpPr>
          <p:cNvPr id="10" name="TextBox 9"/>
          <p:cNvSpPr txBox="1"/>
          <p:nvPr/>
        </p:nvSpPr>
        <p:spPr>
          <a:xfrm>
            <a:off x="2103120" y="4160520"/>
            <a:ext cx="6858000" cy="640080"/>
          </a:xfrm>
          <a:prstGeom prst="rect">
            <a:avLst/>
          </a:prstGeom>
          <a:noFill/>
        </p:spPr>
        <p:txBody>
          <a:bodyPr wrap="square" lIns="0" rIns="0" tIns="0" bIns="0">
            <a:spAutoFit/>
          </a:bodyPr>
          <a:lstStyle/>
          <a:p>
            <a:pPr algn="l">
              <a:spcAft>
                <a:spcPts val="400"/>
              </a:spcAft>
              <a:defRPr sz="2700" b="0">
                <a:solidFill>
                  <a:srgbClr val="111111"/>
                </a:solidFill>
                <a:latin typeface="Arial"/>
              </a:defRPr>
            </a:pPr>
            <a:r>
              <a:t>Fixed random observation network</a:t>
            </a:r>
          </a:p>
        </p:txBody>
      </p:sp>
      <p:sp>
        <p:nvSpPr>
          <p:cNvPr id="11" name="TextBox 10"/>
          <p:cNvSpPr txBox="1"/>
          <p:nvPr/>
        </p:nvSpPr>
        <p:spPr>
          <a:xfrm>
            <a:off x="960120" y="4937760"/>
            <a:ext cx="914400" cy="502920"/>
          </a:xfrm>
          <a:prstGeom prst="rect">
            <a:avLst/>
          </a:prstGeom>
          <a:noFill/>
        </p:spPr>
        <p:txBody>
          <a:bodyPr wrap="square" lIns="0" rIns="0" tIns="0" bIns="0">
            <a:spAutoFit/>
          </a:bodyPr>
          <a:lstStyle/>
          <a:p>
            <a:pPr algn="l">
              <a:spcAft>
                <a:spcPts val="400"/>
              </a:spcAft>
              <a:defRPr sz="2900" b="1">
                <a:solidFill>
                  <a:srgbClr val="111111"/>
                </a:solidFill>
                <a:latin typeface="Arial"/>
              </a:defRPr>
            </a:pPr>
            <a:r>
              <a:t>S2</a:t>
            </a:r>
          </a:p>
        </p:txBody>
      </p:sp>
      <p:sp>
        <p:nvSpPr>
          <p:cNvPr id="12" name="TextBox 11"/>
          <p:cNvSpPr txBox="1"/>
          <p:nvPr/>
        </p:nvSpPr>
        <p:spPr>
          <a:xfrm>
            <a:off x="2103120" y="4937760"/>
            <a:ext cx="6858000" cy="640080"/>
          </a:xfrm>
          <a:prstGeom prst="rect">
            <a:avLst/>
          </a:prstGeom>
          <a:noFill/>
        </p:spPr>
        <p:txBody>
          <a:bodyPr wrap="square" lIns="0" rIns="0" tIns="0" bIns="0">
            <a:spAutoFit/>
          </a:bodyPr>
          <a:lstStyle/>
          <a:p>
            <a:pPr algn="l">
              <a:spcAft>
                <a:spcPts val="400"/>
              </a:spcAft>
              <a:defRPr sz="2700" b="0">
                <a:solidFill>
                  <a:srgbClr val="111111"/>
                </a:solidFill>
                <a:latin typeface="Arial"/>
              </a:defRPr>
            </a:pPr>
            <a:r>
              <a:t>Fixed network with uneven visibility</a:t>
            </a:r>
          </a:p>
        </p:txBody>
      </p:sp>
      <p:sp>
        <p:nvSpPr>
          <p:cNvPr id="13" name="Rectangle 12"/>
          <p:cNvSpPr/>
          <p:nvPr/>
        </p:nvSpPr>
        <p:spPr>
          <a:xfrm>
            <a:off x="9646920" y="2606040"/>
            <a:ext cx="7680960" cy="3154680"/>
          </a:xfrm>
          <a:prstGeom prst="rect">
            <a:avLst/>
          </a:prstGeom>
          <a:solidFill>
            <a:srgbClr val="F3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0" y="2834640"/>
            <a:ext cx="6949440" cy="594360"/>
          </a:xfrm>
          <a:prstGeom prst="rect">
            <a:avLst/>
          </a:prstGeom>
          <a:noFill/>
        </p:spPr>
        <p:txBody>
          <a:bodyPr wrap="square" lIns="0" rIns="0" tIns="0" bIns="0">
            <a:spAutoFit/>
          </a:bodyPr>
          <a:lstStyle/>
          <a:p>
            <a:pPr algn="l">
              <a:spcAft>
                <a:spcPts val="400"/>
              </a:spcAft>
              <a:defRPr sz="3100" b="1">
                <a:solidFill>
                  <a:srgbClr val="111111"/>
                </a:solidFill>
                <a:latin typeface="Arial"/>
              </a:defRPr>
            </a:pPr>
            <a:r>
              <a:t>R1 / R2 / R3   ↔   matched R0</a:t>
            </a:r>
          </a:p>
        </p:txBody>
      </p:sp>
      <p:sp>
        <p:nvSpPr>
          <p:cNvPr id="15" name="TextBox 14"/>
          <p:cNvSpPr txBox="1"/>
          <p:nvPr/>
        </p:nvSpPr>
        <p:spPr>
          <a:xfrm>
            <a:off x="9966960" y="3703320"/>
            <a:ext cx="6949440" cy="1463040"/>
          </a:xfrm>
          <a:prstGeom prst="rect">
            <a:avLst/>
          </a:prstGeom>
          <a:noFill/>
        </p:spPr>
        <p:txBody>
          <a:bodyPr wrap="square" lIns="0" rIns="0" tIns="0" bIns="0">
            <a:spAutoFit/>
          </a:bodyPr>
          <a:lstStyle/>
          <a:p>
            <a:pPr algn="l">
              <a:spcAft>
                <a:spcPts val="400"/>
              </a:spcAft>
              <a:defRPr sz="2600" b="0">
                <a:solidFill>
                  <a:srgbClr val="111111"/>
                </a:solidFill>
                <a:latin typeface="Arial"/>
              </a:defRPr>
            </a:pPr>
            <a:r>
              <a:t>Local / mixed / global search</a:t>
            </a:r>
          </a:p>
          <a:p>
            <a:pPr algn="l">
              <a:spcAft>
                <a:spcPts val="400"/>
              </a:spcAft>
              <a:defRPr sz="2600" b="0">
                <a:solidFill>
                  <a:srgbClr val="111111"/>
                </a:solidFill>
                <a:latin typeface="Arial"/>
              </a:defRPr>
            </a:pPr>
            <a:r>
              <a:t>Same event counts at every checkpoint</a:t>
            </a:r>
          </a:p>
          <a:p>
            <a:pPr algn="l">
              <a:spcAft>
                <a:spcPts val="400"/>
              </a:spcAft>
              <a:defRPr sz="2600" b="0">
                <a:solidFill>
                  <a:srgbClr val="111111"/>
                </a:solidFill>
                <a:latin typeface="Arial"/>
              </a:defRPr>
            </a:pPr>
            <a:r>
              <a:t>Different rule for which observers rewire</a:t>
            </a:r>
          </a:p>
        </p:txBody>
      </p:sp>
      <p:pic>
        <p:nvPicPr>
          <p:cNvPr id="16" name="Picture 15" descr="capacity_uniform_high.png"/>
          <p:cNvPicPr>
            <a:picLocks noChangeAspect="1"/>
          </p:cNvPicPr>
          <p:nvPr/>
        </p:nvPicPr>
        <p:blipFill>
          <a:blip r:embed="rId2"/>
          <a:stretch>
            <a:fillRect/>
          </a:stretch>
        </p:blipFill>
        <p:spPr>
          <a:xfrm>
            <a:off x="960120" y="6400800"/>
            <a:ext cx="1737360" cy="1737360"/>
          </a:xfrm>
          <a:prstGeom prst="rect">
            <a:avLst/>
          </a:prstGeom>
        </p:spPr>
      </p:pic>
      <p:sp>
        <p:nvSpPr>
          <p:cNvPr id="17" name="TextBox 16"/>
          <p:cNvSpPr txBox="1"/>
          <p:nvPr/>
        </p:nvSpPr>
        <p:spPr>
          <a:xfrm>
            <a:off x="795528" y="8293608"/>
            <a:ext cx="2514600" cy="530352"/>
          </a:xfrm>
          <a:prstGeom prst="rect">
            <a:avLst/>
          </a:prstGeom>
          <a:noFill/>
        </p:spPr>
        <p:txBody>
          <a:bodyPr wrap="square" lIns="0" rIns="0" tIns="0" bIns="0">
            <a:spAutoFit/>
          </a:bodyPr>
          <a:lstStyle/>
          <a:p>
            <a:pPr algn="l">
              <a:spcAft>
                <a:spcPts val="400"/>
              </a:spcAft>
              <a:defRPr sz="2300" b="1">
                <a:solidFill>
                  <a:srgbClr val="111111"/>
                </a:solidFill>
                <a:latin typeface="Arial"/>
              </a:defRPr>
            </a:pPr>
            <a:r>
              <a:t>Uniform high</a:t>
            </a:r>
          </a:p>
        </p:txBody>
      </p:sp>
      <p:pic>
        <p:nvPicPr>
          <p:cNvPr id="18" name="Picture 17" descr="capacity_patchy_high.png"/>
          <p:cNvPicPr>
            <a:picLocks noChangeAspect="1"/>
          </p:cNvPicPr>
          <p:nvPr/>
        </p:nvPicPr>
        <p:blipFill>
          <a:blip r:embed="rId3"/>
          <a:stretch>
            <a:fillRect/>
          </a:stretch>
        </p:blipFill>
        <p:spPr>
          <a:xfrm>
            <a:off x="3813048" y="6400800"/>
            <a:ext cx="1737360" cy="1737360"/>
          </a:xfrm>
          <a:prstGeom prst="rect">
            <a:avLst/>
          </a:prstGeom>
        </p:spPr>
      </p:pic>
      <p:sp>
        <p:nvSpPr>
          <p:cNvPr id="19" name="TextBox 18"/>
          <p:cNvSpPr txBox="1"/>
          <p:nvPr/>
        </p:nvSpPr>
        <p:spPr>
          <a:xfrm>
            <a:off x="3648456" y="8293608"/>
            <a:ext cx="2514600" cy="530352"/>
          </a:xfrm>
          <a:prstGeom prst="rect">
            <a:avLst/>
          </a:prstGeom>
          <a:noFill/>
        </p:spPr>
        <p:txBody>
          <a:bodyPr wrap="square" lIns="0" rIns="0" tIns="0" bIns="0">
            <a:spAutoFit/>
          </a:bodyPr>
          <a:lstStyle/>
          <a:p>
            <a:pPr algn="l">
              <a:spcAft>
                <a:spcPts val="400"/>
              </a:spcAft>
              <a:defRPr sz="2300" b="1">
                <a:solidFill>
                  <a:srgbClr val="111111"/>
                </a:solidFill>
                <a:latin typeface="Arial"/>
              </a:defRPr>
            </a:pPr>
            <a:r>
              <a:t>Patchy high</a:t>
            </a:r>
          </a:p>
        </p:txBody>
      </p:sp>
      <p:pic>
        <p:nvPicPr>
          <p:cNvPr id="20" name="Picture 19" descr="capacity_split_high_low.png"/>
          <p:cNvPicPr>
            <a:picLocks noChangeAspect="1"/>
          </p:cNvPicPr>
          <p:nvPr/>
        </p:nvPicPr>
        <p:blipFill>
          <a:blip r:embed="rId4"/>
          <a:stretch>
            <a:fillRect/>
          </a:stretch>
        </p:blipFill>
        <p:spPr>
          <a:xfrm>
            <a:off x="6665976" y="6400800"/>
            <a:ext cx="1737360" cy="1737360"/>
          </a:xfrm>
          <a:prstGeom prst="rect">
            <a:avLst/>
          </a:prstGeom>
        </p:spPr>
      </p:pic>
      <p:sp>
        <p:nvSpPr>
          <p:cNvPr id="21" name="TextBox 20"/>
          <p:cNvSpPr txBox="1"/>
          <p:nvPr/>
        </p:nvSpPr>
        <p:spPr>
          <a:xfrm>
            <a:off x="6501384" y="8293608"/>
            <a:ext cx="2514600" cy="530352"/>
          </a:xfrm>
          <a:prstGeom prst="rect">
            <a:avLst/>
          </a:prstGeom>
          <a:noFill/>
        </p:spPr>
        <p:txBody>
          <a:bodyPr wrap="square" lIns="0" rIns="0" tIns="0" bIns="0">
            <a:spAutoFit/>
          </a:bodyPr>
          <a:lstStyle/>
          <a:p>
            <a:pPr algn="l">
              <a:spcAft>
                <a:spcPts val="400"/>
              </a:spcAft>
              <a:defRPr sz="2300" b="1">
                <a:solidFill>
                  <a:srgbClr val="111111"/>
                </a:solidFill>
                <a:latin typeface="Arial"/>
              </a:defRPr>
            </a:pPr>
            <a:r>
              <a:t>Split high / low</a:t>
            </a:r>
          </a:p>
        </p:txBody>
      </p:sp>
      <p:pic>
        <p:nvPicPr>
          <p:cNvPr id="22" name="Picture 21" descr="capacity_scale.png"/>
          <p:cNvPicPr>
            <a:picLocks noChangeAspect="1"/>
          </p:cNvPicPr>
          <p:nvPr/>
        </p:nvPicPr>
        <p:blipFill>
          <a:blip r:embed="rId5"/>
          <a:stretch>
            <a:fillRect/>
          </a:stretch>
        </p:blipFill>
        <p:spPr>
          <a:xfrm>
            <a:off x="8732520" y="6567761"/>
            <a:ext cx="713232" cy="1449157"/>
          </a:xfrm>
          <a:prstGeom prst="rect">
            <a:avLst/>
          </a:prstGeom>
        </p:spPr>
      </p:pic>
      <p:sp>
        <p:nvSpPr>
          <p:cNvPr id="23" name="TextBox 22"/>
          <p:cNvSpPr txBox="1"/>
          <p:nvPr/>
        </p:nvSpPr>
        <p:spPr>
          <a:xfrm>
            <a:off x="914400" y="8979408"/>
            <a:ext cx="8503920" cy="502920"/>
          </a:xfrm>
          <a:prstGeom prst="rect">
            <a:avLst/>
          </a:prstGeom>
          <a:noFill/>
        </p:spPr>
        <p:txBody>
          <a:bodyPr wrap="square" lIns="0" rIns="0" tIns="0" bIns="0">
            <a:spAutoFit/>
          </a:bodyPr>
          <a:lstStyle/>
          <a:p>
            <a:pPr algn="l">
              <a:spcAft>
                <a:spcPts val="400"/>
              </a:spcAft>
              <a:defRPr sz="1900" b="0">
                <a:solidFill>
                  <a:srgbClr val="666666"/>
                </a:solidFill>
                <a:latin typeface="Arial"/>
              </a:defRPr>
            </a:pPr>
            <a:r>
              <a:t>Capacity maps · replicate 0 · common scale 0–1</a:t>
            </a:r>
          </a:p>
        </p:txBody>
      </p:sp>
      <p:sp>
        <p:nvSpPr>
          <p:cNvPr id="24" name="TextBox 23"/>
          <p:cNvSpPr txBox="1"/>
          <p:nvPr/>
        </p:nvSpPr>
        <p:spPr>
          <a:xfrm>
            <a:off x="10058400" y="6419088"/>
            <a:ext cx="7223760" cy="2468880"/>
          </a:xfrm>
          <a:prstGeom prst="rect">
            <a:avLst/>
          </a:prstGeom>
          <a:noFill/>
        </p:spPr>
        <p:txBody>
          <a:bodyPr wrap="square" lIns="0" rIns="0" tIns="0" bIns="0">
            <a:spAutoFit/>
          </a:bodyPr>
          <a:lstStyle/>
          <a:p>
            <a:pPr algn="l">
              <a:spcAft>
                <a:spcPts val="400"/>
              </a:spcAft>
              <a:defRPr sz="2700" b="0">
                <a:solidFill>
                  <a:srgbClr val="111111"/>
                </a:solidFill>
                <a:latin typeface="Arial"/>
              </a:defRPr>
            </a:pPr>
            <a:r>
              <a:t>3 ecologies × 2 populations (32, 64)</a:t>
            </a:r>
          </a:p>
          <a:p>
            <a:pPr algn="l">
              <a:spcAft>
                <a:spcPts val="400"/>
              </a:spcAft>
              <a:defRPr sz="2700" b="0">
                <a:solidFill>
                  <a:srgbClr val="111111"/>
                </a:solidFill>
                <a:latin typeface="Arial"/>
              </a:defRPr>
            </a:pPr>
            <a:r>
              <a:t>10 replicates per condition</a:t>
            </a:r>
          </a:p>
          <a:p>
            <a:pPr algn="l">
              <a:spcAft>
                <a:spcPts val="400"/>
              </a:spcAft>
              <a:defRPr sz="2700" b="0">
                <a:solidFill>
                  <a:srgbClr val="111111"/>
                </a:solidFill>
                <a:latin typeface="Arial"/>
              </a:defRPr>
            </a:pPr>
            <a:r>
              <a:t>5,000 training + 1,000 evaluation steps</a:t>
            </a:r>
          </a:p>
          <a:p>
            <a:pPr algn="l">
              <a:spcAft>
                <a:spcPts val="400"/>
              </a:spcAft>
              <a:defRPr sz="2700" b="0">
                <a:solidFill>
                  <a:srgbClr val="111111"/>
                </a:solidFill>
                <a:latin typeface="Arial"/>
              </a:defRPr>
            </a:pPr>
            <a:r>
              <a:t>Fresh ecology; learned policies and graphs frozen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76072"/>
            <a:ext cx="16596359" cy="868680"/>
          </a:xfrm>
          <a:prstGeom prst="rect">
            <a:avLst/>
          </a:prstGeom>
          <a:noFill/>
        </p:spPr>
        <p:txBody>
          <a:bodyPr wrap="square" lIns="0" rIns="0" tIns="0" bIns="0">
            <a:spAutoFit/>
          </a:bodyPr>
          <a:lstStyle/>
          <a:p>
            <a:pPr algn="l">
              <a:spcAft>
                <a:spcPts val="400"/>
              </a:spcAft>
              <a:defRPr sz="4050" b="1">
                <a:solidFill>
                  <a:srgbClr val="111111"/>
                </a:solidFill>
                <a:latin typeface="Arial"/>
              </a:defRPr>
            </a:pPr>
            <a:r>
              <a:t>Local search concentrates attention—even with random turnover</a:t>
            </a:r>
          </a:p>
        </p:txBody>
      </p:sp>
      <p:sp>
        <p:nvSpPr>
          <p:cNvPr id="3" name="TextBox 2"/>
          <p:cNvSpPr txBox="1"/>
          <p:nvPr/>
        </p:nvSpPr>
        <p:spPr>
          <a:xfrm>
            <a:off x="868680" y="1581912"/>
            <a:ext cx="16550640" cy="777240"/>
          </a:xfrm>
          <a:prstGeom prst="rect">
            <a:avLst/>
          </a:prstGeom>
          <a:noFill/>
        </p:spPr>
        <p:txBody>
          <a:bodyPr wrap="square" lIns="0" rIns="0" tIns="0" bIns="0">
            <a:spAutoFit/>
          </a:bodyPr>
          <a:lstStyle/>
          <a:p>
            <a:pPr algn="l">
              <a:spcAft>
                <a:spcPts val="400"/>
              </a:spcAft>
              <a:defRPr sz="2700" b="0">
                <a:solidFill>
                  <a:srgbClr val="666666"/>
                </a:solidFill>
                <a:latin typeface="Arial"/>
              </a:defRPr>
            </a:pPr>
            <a:r>
              <a:t>Population-level patterns during training · N = 64 · all three ecologies</a:t>
            </a:r>
          </a:p>
        </p:txBody>
      </p:sp>
      <p:sp>
        <p:nvSpPr>
          <p:cNvPr id="4" name="TextBox 3"/>
          <p:cNvSpPr txBox="1"/>
          <p:nvPr/>
        </p:nvSpPr>
        <p:spPr>
          <a:xfrm>
            <a:off x="868680" y="9866376"/>
            <a:ext cx="13716000" cy="256032"/>
          </a:xfrm>
          <a:prstGeom prst="rect">
            <a:avLst/>
          </a:prstGeom>
          <a:noFill/>
        </p:spPr>
        <p:txBody>
          <a:bodyPr wrap="square" lIns="0" rIns="0" tIns="0" bIns="0">
            <a:spAutoFit/>
          </a:bodyPr>
          <a:lstStyle/>
          <a:p>
            <a:pPr algn="l">
              <a:spcAft>
                <a:spcPts val="400"/>
              </a:spcAft>
              <a:defRPr sz="1300" b="0">
                <a:solidFill>
                  <a:srgbClr val="666666"/>
                </a:solidFill>
                <a:latin typeface="Arial"/>
              </a:defRPr>
            </a:pPr>
            <a:r>
              <a:t>COGNITIVE TOOLS  /  SUPERVISOR DATA ROUND  /  PILOT v1</a:t>
            </a:r>
          </a:p>
        </p:txBody>
      </p:sp>
      <p:sp>
        <p:nvSpPr>
          <p:cNvPr id="5" name="TextBox 4"/>
          <p:cNvSpPr txBox="1"/>
          <p:nvPr/>
        </p:nvSpPr>
        <p:spPr>
          <a:xfrm>
            <a:off x="16459200" y="9802368"/>
            <a:ext cx="914400" cy="320040"/>
          </a:xfrm>
          <a:prstGeom prst="rect">
            <a:avLst/>
          </a:prstGeom>
          <a:noFill/>
        </p:spPr>
        <p:txBody>
          <a:bodyPr wrap="square" lIns="0" rIns="0" tIns="0" bIns="0">
            <a:spAutoFit/>
          </a:bodyPr>
          <a:lstStyle/>
          <a:p>
            <a:pPr algn="r">
              <a:spcAft>
                <a:spcPts val="400"/>
              </a:spcAft>
              <a:defRPr sz="1500" b="0">
                <a:solidFill>
                  <a:srgbClr val="666666"/>
                </a:solidFill>
                <a:latin typeface="Arial"/>
              </a:defRPr>
            </a:pPr>
            <a:r>
              <a:t>4 / 7</a:t>
            </a:r>
          </a:p>
        </p:txBody>
      </p:sp>
      <p:pic>
        <p:nvPicPr>
          <p:cNvPr id="6" name="Picture 5" descr="organization_N64.png"/>
          <p:cNvPicPr>
            <a:picLocks noChangeAspect="1"/>
          </p:cNvPicPr>
          <p:nvPr/>
        </p:nvPicPr>
        <p:blipFill>
          <a:blip r:embed="rId2"/>
          <a:stretch>
            <a:fillRect/>
          </a:stretch>
        </p:blipFill>
        <p:spPr>
          <a:xfrm>
            <a:off x="1577064" y="2331720"/>
            <a:ext cx="15133871" cy="5989320"/>
          </a:xfrm>
          <a:prstGeom prst="rect">
            <a:avLst/>
          </a:prstGeom>
        </p:spPr>
      </p:pic>
      <p:sp>
        <p:nvSpPr>
          <p:cNvPr id="7" name="TextBox 6"/>
          <p:cNvSpPr txBox="1"/>
          <p:nvPr/>
        </p:nvSpPr>
        <p:spPr>
          <a:xfrm>
            <a:off x="914400" y="8531352"/>
            <a:ext cx="16459200" cy="594360"/>
          </a:xfrm>
          <a:prstGeom prst="rect">
            <a:avLst/>
          </a:prstGeom>
          <a:noFill/>
        </p:spPr>
        <p:txBody>
          <a:bodyPr wrap="square" lIns="0" rIns="0" tIns="0" bIns="0">
            <a:spAutoFit/>
          </a:bodyPr>
          <a:lstStyle/>
          <a:p>
            <a:pPr algn="l">
              <a:spcAft>
                <a:spcPts val="400"/>
              </a:spcAft>
              <a:defRPr sz="2900" b="1">
                <a:solidFill>
                  <a:srgbClr val="111111"/>
                </a:solidFill>
                <a:latin typeface="Arial"/>
              </a:defRPr>
            </a:pPr>
            <a:r>
              <a:t>Organization appears in both adaptive and matched-random networks.</a:t>
            </a:r>
          </a:p>
        </p:txBody>
      </p:sp>
      <p:sp>
        <p:nvSpPr>
          <p:cNvPr id="8" name="TextBox 7"/>
          <p:cNvSpPr txBox="1"/>
          <p:nvPr/>
        </p:nvSpPr>
        <p:spPr>
          <a:xfrm>
            <a:off x="914400" y="9198864"/>
            <a:ext cx="16459200" cy="365760"/>
          </a:xfrm>
          <a:prstGeom prst="rect">
            <a:avLst/>
          </a:prstGeom>
          <a:noFill/>
        </p:spPr>
        <p:txBody>
          <a:bodyPr wrap="square" lIns="0" rIns="0" tIns="0" bIns="0">
            <a:spAutoFit/>
          </a:bodyPr>
          <a:lstStyle/>
          <a:p>
            <a:pPr algn="l">
              <a:spcAft>
                <a:spcPts val="400"/>
              </a:spcAft>
              <a:defRPr sz="1900" b="0">
                <a:solidFill>
                  <a:srgbClr val="666666"/>
                </a:solidFill>
                <a:latin typeface="Arial"/>
              </a:defRPr>
            </a:pPr>
            <a:r>
              <a:t>Lines: means of 10 replicates, unsmoothed; descriptive trends, not uncertainty intervals. N=32 companion supplied.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76072"/>
            <a:ext cx="16596359" cy="868680"/>
          </a:xfrm>
          <a:prstGeom prst="rect">
            <a:avLst/>
          </a:prstGeom>
          <a:noFill/>
        </p:spPr>
        <p:txBody>
          <a:bodyPr wrap="square" lIns="0" rIns="0" tIns="0" bIns="0">
            <a:spAutoFit/>
          </a:bodyPr>
          <a:lstStyle/>
          <a:p>
            <a:pPr algn="l">
              <a:spcAft>
                <a:spcPts val="400"/>
              </a:spcAft>
              <a:defRPr sz="4050" b="1">
                <a:solidFill>
                  <a:srgbClr val="111111"/>
                </a:solidFill>
                <a:latin typeface="Arial"/>
              </a:defRPr>
            </a:pPr>
            <a:r>
              <a:t>Adaptive rewiring has no clear general sustainability advantage</a:t>
            </a:r>
          </a:p>
        </p:txBody>
      </p:sp>
      <p:sp>
        <p:nvSpPr>
          <p:cNvPr id="3" name="TextBox 2"/>
          <p:cNvSpPr txBox="1"/>
          <p:nvPr/>
        </p:nvSpPr>
        <p:spPr>
          <a:xfrm>
            <a:off x="868680" y="1581912"/>
            <a:ext cx="16550640" cy="777240"/>
          </a:xfrm>
          <a:prstGeom prst="rect">
            <a:avLst/>
          </a:prstGeom>
          <a:noFill/>
        </p:spPr>
        <p:txBody>
          <a:bodyPr wrap="square" lIns="0" rIns="0" tIns="0" bIns="0">
            <a:spAutoFit/>
          </a:bodyPr>
          <a:lstStyle/>
          <a:p>
            <a:pPr algn="l">
              <a:spcAft>
                <a:spcPts val="400"/>
              </a:spcAft>
              <a:defRPr sz="2700" b="0">
                <a:solidFill>
                  <a:srgbClr val="666666"/>
                </a:solidFill>
                <a:latin typeface="Arial"/>
              </a:defRPr>
            </a:pPr>
            <a:r>
              <a:t>Difference from matched random turnover · every ecology, search scope, and population</a:t>
            </a:r>
          </a:p>
        </p:txBody>
      </p:sp>
      <p:sp>
        <p:nvSpPr>
          <p:cNvPr id="4" name="TextBox 3"/>
          <p:cNvSpPr txBox="1"/>
          <p:nvPr/>
        </p:nvSpPr>
        <p:spPr>
          <a:xfrm>
            <a:off x="868680" y="9866376"/>
            <a:ext cx="13716000" cy="256032"/>
          </a:xfrm>
          <a:prstGeom prst="rect">
            <a:avLst/>
          </a:prstGeom>
          <a:noFill/>
        </p:spPr>
        <p:txBody>
          <a:bodyPr wrap="square" lIns="0" rIns="0" tIns="0" bIns="0">
            <a:spAutoFit/>
          </a:bodyPr>
          <a:lstStyle/>
          <a:p>
            <a:pPr algn="l">
              <a:spcAft>
                <a:spcPts val="400"/>
              </a:spcAft>
              <a:defRPr sz="1300" b="0">
                <a:solidFill>
                  <a:srgbClr val="666666"/>
                </a:solidFill>
                <a:latin typeface="Arial"/>
              </a:defRPr>
            </a:pPr>
            <a:r>
              <a:t>COGNITIVE TOOLS  /  SUPERVISOR DATA ROUND  /  PILOT v1</a:t>
            </a:r>
          </a:p>
        </p:txBody>
      </p:sp>
      <p:sp>
        <p:nvSpPr>
          <p:cNvPr id="5" name="TextBox 4"/>
          <p:cNvSpPr txBox="1"/>
          <p:nvPr/>
        </p:nvSpPr>
        <p:spPr>
          <a:xfrm>
            <a:off x="16459200" y="9802368"/>
            <a:ext cx="914400" cy="320040"/>
          </a:xfrm>
          <a:prstGeom prst="rect">
            <a:avLst/>
          </a:prstGeom>
          <a:noFill/>
        </p:spPr>
        <p:txBody>
          <a:bodyPr wrap="square" lIns="0" rIns="0" tIns="0" bIns="0">
            <a:spAutoFit/>
          </a:bodyPr>
          <a:lstStyle/>
          <a:p>
            <a:pPr algn="r">
              <a:spcAft>
                <a:spcPts val="400"/>
              </a:spcAft>
              <a:defRPr sz="1500" b="0">
                <a:solidFill>
                  <a:srgbClr val="666666"/>
                </a:solidFill>
                <a:latin typeface="Arial"/>
              </a:defRPr>
            </a:pPr>
            <a:r>
              <a:t>5 / 7</a:t>
            </a:r>
          </a:p>
        </p:txBody>
      </p:sp>
      <p:pic>
        <p:nvPicPr>
          <p:cNvPr id="6" name="Picture 5" descr="sustainability.png"/>
          <p:cNvPicPr>
            <a:picLocks noChangeAspect="1"/>
          </p:cNvPicPr>
          <p:nvPr/>
        </p:nvPicPr>
        <p:blipFill>
          <a:blip r:embed="rId2"/>
          <a:stretch>
            <a:fillRect/>
          </a:stretch>
        </p:blipFill>
        <p:spPr>
          <a:xfrm>
            <a:off x="594360" y="2669713"/>
            <a:ext cx="16916400" cy="5313332"/>
          </a:xfrm>
          <a:prstGeom prst="rect">
            <a:avLst/>
          </a:prstGeom>
        </p:spPr>
      </p:pic>
      <p:sp>
        <p:nvSpPr>
          <p:cNvPr id="7" name="TextBox 6"/>
          <p:cNvSpPr txBox="1"/>
          <p:nvPr/>
        </p:nvSpPr>
        <p:spPr>
          <a:xfrm>
            <a:off x="914400" y="8092440"/>
            <a:ext cx="16459200" cy="594360"/>
          </a:xfrm>
          <a:prstGeom prst="rect">
            <a:avLst/>
          </a:prstGeom>
          <a:noFill/>
        </p:spPr>
        <p:txBody>
          <a:bodyPr wrap="square" lIns="0" rIns="0" tIns="0" bIns="0">
            <a:spAutoFit/>
          </a:bodyPr>
          <a:lstStyle/>
          <a:p>
            <a:pPr algn="l">
              <a:spcAft>
                <a:spcPts val="400"/>
              </a:spcAft>
              <a:defRPr sz="2900" b="1">
                <a:solidFill>
                  <a:srgbClr val="111111"/>
                </a:solidFill>
                <a:latin typeface="Arial"/>
              </a:defRPr>
            </a:pPr>
            <a:r>
              <a:t>15 of 18 intervals cross zero; the direction also changes across conditions.</a:t>
            </a:r>
          </a:p>
        </p:txBody>
      </p:sp>
      <p:sp>
        <p:nvSpPr>
          <p:cNvPr id="8" name="TextBox 7"/>
          <p:cNvSpPr txBox="1"/>
          <p:nvPr/>
        </p:nvSpPr>
        <p:spPr>
          <a:xfrm>
            <a:off x="914400" y="8833104"/>
            <a:ext cx="16459200" cy="731520"/>
          </a:xfrm>
          <a:prstGeom prst="rect">
            <a:avLst/>
          </a:prstGeom>
          <a:noFill/>
        </p:spPr>
        <p:txBody>
          <a:bodyPr wrap="square" lIns="0" rIns="0" tIns="0" bIns="0">
            <a:spAutoFit/>
          </a:bodyPr>
          <a:lstStyle/>
          <a:p>
            <a:pPr algn="l">
              <a:spcAft>
                <a:spcPts val="400"/>
              </a:spcAft>
              <a:defRPr sz="2000" b="0">
                <a:solidFill>
                  <a:srgbClr val="666666"/>
                </a:solidFill>
                <a:latin typeface="Arial"/>
              </a:defRPr>
            </a:pPr>
            <a:r>
              <a:t>Right of zero = more resource under adaptive rewiring. Rows show search scope and population.</a:t>
            </a:r>
          </a:p>
          <a:p>
            <a:pPr algn="l">
              <a:spcAft>
                <a:spcPts val="400"/>
              </a:spcAft>
              <a:defRPr sz="2000" b="0">
                <a:solidFill>
                  <a:srgbClr val="666666"/>
                </a:solidFill>
                <a:latin typeface="Arial"/>
              </a:defRPr>
            </a:pPr>
            <a:r>
              <a:t>10 paired replicates; 95% bootstrap intervals (2,000 resamples), exploratory and not multiplicity-adjusted.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76072"/>
            <a:ext cx="16596359" cy="868680"/>
          </a:xfrm>
          <a:prstGeom prst="rect">
            <a:avLst/>
          </a:prstGeom>
          <a:noFill/>
        </p:spPr>
        <p:txBody>
          <a:bodyPr wrap="square" lIns="0" rIns="0" tIns="0" bIns="0">
            <a:spAutoFit/>
          </a:bodyPr>
          <a:lstStyle/>
          <a:p>
            <a:pPr algn="l">
              <a:spcAft>
                <a:spcPts val="400"/>
              </a:spcAft>
              <a:defRPr sz="4050" b="1">
                <a:solidFill>
                  <a:srgbClr val="111111"/>
                </a:solidFill>
                <a:latin typeface="Arial"/>
              </a:defRPr>
            </a:pPr>
            <a:r>
              <a:t>A resource gain is not a complete welfare story</a:t>
            </a:r>
          </a:p>
        </p:txBody>
      </p:sp>
      <p:sp>
        <p:nvSpPr>
          <p:cNvPr id="3" name="TextBox 2"/>
          <p:cNvSpPr txBox="1"/>
          <p:nvPr/>
        </p:nvSpPr>
        <p:spPr>
          <a:xfrm>
            <a:off x="868680" y="1581912"/>
            <a:ext cx="16550640" cy="777240"/>
          </a:xfrm>
          <a:prstGeom prst="rect">
            <a:avLst/>
          </a:prstGeom>
          <a:noFill/>
        </p:spPr>
        <p:txBody>
          <a:bodyPr wrap="square" lIns="0" rIns="0" tIns="0" bIns="0">
            <a:spAutoFit/>
          </a:bodyPr>
          <a:lstStyle/>
          <a:p>
            <a:pPr algn="l">
              <a:spcAft>
                <a:spcPts val="400"/>
              </a:spcAft>
              <a:defRPr sz="2700" b="0">
                <a:solidFill>
                  <a:srgbClr val="666666"/>
                </a:solidFill>
                <a:latin typeface="Arial"/>
              </a:defRPr>
            </a:pPr>
            <a:r>
              <a:t>Closer look: split high / low ecology · all six adaptive-versus-R0 comparisons</a:t>
            </a:r>
          </a:p>
        </p:txBody>
      </p:sp>
      <p:sp>
        <p:nvSpPr>
          <p:cNvPr id="4" name="TextBox 3"/>
          <p:cNvSpPr txBox="1"/>
          <p:nvPr/>
        </p:nvSpPr>
        <p:spPr>
          <a:xfrm>
            <a:off x="868680" y="9866376"/>
            <a:ext cx="13716000" cy="256032"/>
          </a:xfrm>
          <a:prstGeom prst="rect">
            <a:avLst/>
          </a:prstGeom>
          <a:noFill/>
        </p:spPr>
        <p:txBody>
          <a:bodyPr wrap="square" lIns="0" rIns="0" tIns="0" bIns="0">
            <a:spAutoFit/>
          </a:bodyPr>
          <a:lstStyle/>
          <a:p>
            <a:pPr algn="l">
              <a:spcAft>
                <a:spcPts val="400"/>
              </a:spcAft>
              <a:defRPr sz="1300" b="0">
                <a:solidFill>
                  <a:srgbClr val="666666"/>
                </a:solidFill>
                <a:latin typeface="Arial"/>
              </a:defRPr>
            </a:pPr>
            <a:r>
              <a:t>COGNITIVE TOOLS  /  SUPERVISOR DATA ROUND  /  PILOT v1</a:t>
            </a:r>
          </a:p>
        </p:txBody>
      </p:sp>
      <p:sp>
        <p:nvSpPr>
          <p:cNvPr id="5" name="TextBox 4"/>
          <p:cNvSpPr txBox="1"/>
          <p:nvPr/>
        </p:nvSpPr>
        <p:spPr>
          <a:xfrm>
            <a:off x="16459200" y="9802368"/>
            <a:ext cx="914400" cy="320040"/>
          </a:xfrm>
          <a:prstGeom prst="rect">
            <a:avLst/>
          </a:prstGeom>
          <a:noFill/>
        </p:spPr>
        <p:txBody>
          <a:bodyPr wrap="square" lIns="0" rIns="0" tIns="0" bIns="0">
            <a:spAutoFit/>
          </a:bodyPr>
          <a:lstStyle/>
          <a:p>
            <a:pPr algn="r">
              <a:spcAft>
                <a:spcPts val="400"/>
              </a:spcAft>
              <a:defRPr sz="1500" b="0">
                <a:solidFill>
                  <a:srgbClr val="666666"/>
                </a:solidFill>
                <a:latin typeface="Arial"/>
              </a:defRPr>
            </a:pPr>
            <a:r>
              <a:t>6 / 7</a:t>
            </a:r>
          </a:p>
        </p:txBody>
      </p:sp>
      <p:pic>
        <p:nvPicPr>
          <p:cNvPr id="6" name="Picture 5" descr="split_tradeoffs.png"/>
          <p:cNvPicPr>
            <a:picLocks noChangeAspect="1"/>
          </p:cNvPicPr>
          <p:nvPr/>
        </p:nvPicPr>
        <p:blipFill>
          <a:blip r:embed="rId2"/>
          <a:stretch>
            <a:fillRect/>
          </a:stretch>
        </p:blipFill>
        <p:spPr>
          <a:xfrm>
            <a:off x="594360" y="2763355"/>
            <a:ext cx="16916400" cy="4988888"/>
          </a:xfrm>
          <a:prstGeom prst="rect">
            <a:avLst/>
          </a:prstGeom>
        </p:spPr>
      </p:pic>
      <p:sp>
        <p:nvSpPr>
          <p:cNvPr id="7" name="TextBox 6"/>
          <p:cNvSpPr txBox="1"/>
          <p:nvPr/>
        </p:nvSpPr>
        <p:spPr>
          <a:xfrm>
            <a:off x="914400" y="8001000"/>
            <a:ext cx="16459200" cy="640080"/>
          </a:xfrm>
          <a:prstGeom prst="rect">
            <a:avLst/>
          </a:prstGeom>
          <a:noFill/>
        </p:spPr>
        <p:txBody>
          <a:bodyPr wrap="square" lIns="0" rIns="0" tIns="0" bIns="0">
            <a:spAutoFit/>
          </a:bodyPr>
          <a:lstStyle/>
          <a:p>
            <a:pPr algn="l">
              <a:spcAft>
                <a:spcPts val="400"/>
              </a:spcAft>
              <a:defRPr sz="2900" b="1">
                <a:solidFill>
                  <a:srgbClr val="111111"/>
                </a:solidFill>
                <a:latin typeface="Arial"/>
              </a:defRPr>
            </a:pPr>
            <a:r>
              <a:t>Mixed search, N=64: resource +1.02 pp; reserve welfare +1.62 pp.</a:t>
            </a:r>
          </a:p>
        </p:txBody>
      </p:sp>
      <p:sp>
        <p:nvSpPr>
          <p:cNvPr id="8" name="TextBox 7"/>
          <p:cNvSpPr txBox="1"/>
          <p:nvPr/>
        </p:nvSpPr>
        <p:spPr>
          <a:xfrm>
            <a:off x="914400" y="8677656"/>
            <a:ext cx="16459200" cy="822960"/>
          </a:xfrm>
          <a:prstGeom prst="rect">
            <a:avLst/>
          </a:prstGeom>
          <a:noFill/>
        </p:spPr>
        <p:txBody>
          <a:bodyPr wrap="square" lIns="0" rIns="0" tIns="0" bIns="0">
            <a:spAutoFit/>
          </a:bodyPr>
          <a:lstStyle/>
          <a:p>
            <a:pPr algn="l">
              <a:spcAft>
                <a:spcPts val="400"/>
              </a:spcAft>
              <a:defRPr sz="2000" b="0">
                <a:solidFill>
                  <a:srgbClr val="666666"/>
                </a:solidFill>
                <a:latin typeface="Arial"/>
              </a:defRPr>
            </a:pPr>
            <a:r>
              <a:t>Its wealth-inequality interval crosses zero. More resource does not establish a fairer outcome.</a:t>
            </a:r>
          </a:p>
          <a:p>
            <a:pPr algn="l">
              <a:spcAft>
                <a:spcPts val="400"/>
              </a:spcAft>
              <a:defRPr sz="2000" b="0">
                <a:solidFill>
                  <a:srgbClr val="666666"/>
                </a:solidFill>
                <a:latin typeface="Arial"/>
              </a:defRPr>
            </a:pPr>
            <a:r>
              <a:t>Positive = more resource / welfare, but more inequality. Same 10 pairs and 95% bootstrap method as slide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76072"/>
            <a:ext cx="16596359" cy="868680"/>
          </a:xfrm>
          <a:prstGeom prst="rect">
            <a:avLst/>
          </a:prstGeom>
          <a:noFill/>
        </p:spPr>
        <p:txBody>
          <a:bodyPr wrap="square" lIns="0" rIns="0" tIns="0" bIns="0">
            <a:spAutoFit/>
          </a:bodyPr>
          <a:lstStyle/>
          <a:p>
            <a:pPr algn="l">
              <a:spcAft>
                <a:spcPts val="400"/>
              </a:spcAft>
              <a:defRPr sz="4050" b="1">
                <a:solidFill>
                  <a:srgbClr val="111111"/>
                </a:solidFill>
                <a:latin typeface="Arial"/>
              </a:defRPr>
            </a:pPr>
            <a:r>
              <a:t>The project can stay focused on one micro-to-macro test</a:t>
            </a:r>
          </a:p>
        </p:txBody>
      </p:sp>
      <p:sp>
        <p:nvSpPr>
          <p:cNvPr id="3" name="TextBox 2"/>
          <p:cNvSpPr txBox="1"/>
          <p:nvPr/>
        </p:nvSpPr>
        <p:spPr>
          <a:xfrm>
            <a:off x="868680" y="1581912"/>
            <a:ext cx="16550640" cy="777240"/>
          </a:xfrm>
          <a:prstGeom prst="rect">
            <a:avLst/>
          </a:prstGeom>
          <a:noFill/>
        </p:spPr>
        <p:txBody>
          <a:bodyPr wrap="square" lIns="0" rIns="0" tIns="0" bIns="0">
            <a:spAutoFit/>
          </a:bodyPr>
          <a:lstStyle/>
          <a:p>
            <a:pPr algn="l">
              <a:spcAft>
                <a:spcPts val="400"/>
              </a:spcAft>
              <a:defRPr sz="2700" b="0">
                <a:solidFill>
                  <a:srgbClr val="666666"/>
                </a:solidFill>
                <a:latin typeface="Arial"/>
              </a:defRPr>
            </a:pPr>
            <a:r>
              <a:t>Individual observation → population patterns → sustainability, welfare, and inequality</a:t>
            </a:r>
          </a:p>
        </p:txBody>
      </p:sp>
      <p:sp>
        <p:nvSpPr>
          <p:cNvPr id="4" name="TextBox 3"/>
          <p:cNvSpPr txBox="1"/>
          <p:nvPr/>
        </p:nvSpPr>
        <p:spPr>
          <a:xfrm>
            <a:off x="868680" y="9866376"/>
            <a:ext cx="13716000" cy="256032"/>
          </a:xfrm>
          <a:prstGeom prst="rect">
            <a:avLst/>
          </a:prstGeom>
          <a:noFill/>
        </p:spPr>
        <p:txBody>
          <a:bodyPr wrap="square" lIns="0" rIns="0" tIns="0" bIns="0">
            <a:spAutoFit/>
          </a:bodyPr>
          <a:lstStyle/>
          <a:p>
            <a:pPr algn="l">
              <a:spcAft>
                <a:spcPts val="400"/>
              </a:spcAft>
              <a:defRPr sz="1300" b="0">
                <a:solidFill>
                  <a:srgbClr val="666666"/>
                </a:solidFill>
                <a:latin typeface="Arial"/>
              </a:defRPr>
            </a:pPr>
            <a:r>
              <a:t>COGNITIVE TOOLS  /  SUPERVISOR DATA ROUND  /  PILOT v1</a:t>
            </a:r>
          </a:p>
        </p:txBody>
      </p:sp>
      <p:sp>
        <p:nvSpPr>
          <p:cNvPr id="5" name="TextBox 4"/>
          <p:cNvSpPr txBox="1"/>
          <p:nvPr/>
        </p:nvSpPr>
        <p:spPr>
          <a:xfrm>
            <a:off x="16459200" y="9802368"/>
            <a:ext cx="914400" cy="320040"/>
          </a:xfrm>
          <a:prstGeom prst="rect">
            <a:avLst/>
          </a:prstGeom>
          <a:noFill/>
        </p:spPr>
        <p:txBody>
          <a:bodyPr wrap="square" lIns="0" rIns="0" tIns="0" bIns="0">
            <a:spAutoFit/>
          </a:bodyPr>
          <a:lstStyle/>
          <a:p>
            <a:pPr algn="r">
              <a:spcAft>
                <a:spcPts val="400"/>
              </a:spcAft>
              <a:defRPr sz="1500" b="0">
                <a:solidFill>
                  <a:srgbClr val="666666"/>
                </a:solidFill>
                <a:latin typeface="Arial"/>
              </a:defRPr>
            </a:pPr>
            <a:r>
              <a:t>7 / 7</a:t>
            </a:r>
          </a:p>
        </p:txBody>
      </p:sp>
      <p:sp>
        <p:nvSpPr>
          <p:cNvPr id="6" name="Rectangle 5"/>
          <p:cNvSpPr/>
          <p:nvPr/>
        </p:nvSpPr>
        <p:spPr>
          <a:xfrm>
            <a:off x="914400" y="2743200"/>
            <a:ext cx="5074920" cy="3429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2743200"/>
            <a:ext cx="68580" cy="3429000"/>
          </a:xfrm>
          <a:prstGeom prst="rect">
            <a:avLst/>
          </a:prstGeom>
          <a:solidFill>
            <a:srgbClr val="3168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 y="2926080"/>
            <a:ext cx="4663440" cy="640080"/>
          </a:xfrm>
          <a:prstGeom prst="rect">
            <a:avLst/>
          </a:prstGeom>
          <a:noFill/>
        </p:spPr>
        <p:txBody>
          <a:bodyPr wrap="square" lIns="0" rIns="0" tIns="0" bIns="0">
            <a:spAutoFit/>
          </a:bodyPr>
          <a:lstStyle/>
          <a:p>
            <a:pPr algn="l">
              <a:spcAft>
                <a:spcPts val="400"/>
              </a:spcAft>
              <a:defRPr sz="3000" b="1">
                <a:solidFill>
                  <a:srgbClr val="111111"/>
                </a:solidFill>
                <a:latin typeface="Arial"/>
              </a:defRPr>
            </a:pPr>
            <a:r>
              <a:t>What the pilot shows</a:t>
            </a:r>
          </a:p>
        </p:txBody>
      </p:sp>
      <p:sp>
        <p:nvSpPr>
          <p:cNvPr id="9" name="TextBox 8"/>
          <p:cNvSpPr txBox="1"/>
          <p:nvPr/>
        </p:nvSpPr>
        <p:spPr>
          <a:xfrm>
            <a:off x="1124712" y="3675887"/>
            <a:ext cx="4663440" cy="2395728"/>
          </a:xfrm>
          <a:prstGeom prst="rect">
            <a:avLst/>
          </a:prstGeom>
          <a:noFill/>
        </p:spPr>
        <p:txBody>
          <a:bodyPr wrap="square" lIns="0" rIns="0" tIns="0" bIns="0">
            <a:spAutoFit/>
          </a:bodyPr>
          <a:lstStyle/>
          <a:p>
            <a:pPr algn="l">
              <a:spcAft>
                <a:spcPts val="400"/>
              </a:spcAft>
              <a:defRPr sz="2500" b="0">
                <a:solidFill>
                  <a:srgbClr val="111111"/>
                </a:solidFill>
                <a:latin typeface="Arial"/>
              </a:defRPr>
            </a:pPr>
            <a:r>
              <a:t>Local search changes</a:t>
            </a:r>
          </a:p>
          <a:p>
            <a:pPr algn="l">
              <a:spcAft>
                <a:spcPts val="400"/>
              </a:spcAft>
              <a:defRPr sz="2500" b="0">
                <a:solidFill>
                  <a:srgbClr val="111111"/>
                </a:solidFill>
                <a:latin typeface="Arial"/>
              </a:defRPr>
            </a:pPr>
            <a:r>
              <a:t>who becomes visible.</a:t>
            </a:r>
          </a:p>
          <a:p>
            <a:pPr algn="l">
              <a:spcAft>
                <a:spcPts val="400"/>
              </a:spcAft>
              <a:defRPr sz="2500" b="0">
                <a:solidFill>
                  <a:srgbClr val="111111"/>
                </a:solidFill>
                <a:latin typeface="Arial"/>
              </a:defRPr>
            </a:pPr>
          </a:p>
          <a:p>
            <a:pPr algn="l">
              <a:spcAft>
                <a:spcPts val="400"/>
              </a:spcAft>
              <a:defRPr sz="2500" b="0">
                <a:solidFill>
                  <a:srgbClr val="111111"/>
                </a:solidFill>
                <a:latin typeface="Arial"/>
              </a:defRPr>
            </a:pPr>
            <a:r>
              <a:t>Random turnover can produce</a:t>
            </a:r>
          </a:p>
          <a:p>
            <a:pPr algn="l">
              <a:spcAft>
                <a:spcPts val="400"/>
              </a:spcAft>
              <a:defRPr sz="2500" b="0">
                <a:solidFill>
                  <a:srgbClr val="111111"/>
                </a:solidFill>
                <a:latin typeface="Arial"/>
              </a:defRPr>
            </a:pPr>
            <a:r>
              <a:t>a similar concentration.</a:t>
            </a:r>
          </a:p>
        </p:txBody>
      </p:sp>
      <p:sp>
        <p:nvSpPr>
          <p:cNvPr id="10" name="Rectangle 9"/>
          <p:cNvSpPr/>
          <p:nvPr/>
        </p:nvSpPr>
        <p:spPr>
          <a:xfrm>
            <a:off x="6601968" y="2743200"/>
            <a:ext cx="5074920" cy="3429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01968" y="2743200"/>
            <a:ext cx="68580" cy="3429000"/>
          </a:xfrm>
          <a:prstGeom prst="rect">
            <a:avLst/>
          </a:prstGeom>
          <a:solidFill>
            <a:srgbClr val="218F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2280" y="2926080"/>
            <a:ext cx="4663440" cy="640080"/>
          </a:xfrm>
          <a:prstGeom prst="rect">
            <a:avLst/>
          </a:prstGeom>
          <a:noFill/>
        </p:spPr>
        <p:txBody>
          <a:bodyPr wrap="square" lIns="0" rIns="0" tIns="0" bIns="0">
            <a:spAutoFit/>
          </a:bodyPr>
          <a:lstStyle/>
          <a:p>
            <a:pPr algn="l">
              <a:spcAft>
                <a:spcPts val="400"/>
              </a:spcAft>
              <a:defRPr sz="3000" b="1">
                <a:solidFill>
                  <a:srgbClr val="111111"/>
                </a:solidFill>
                <a:latin typeface="Arial"/>
              </a:defRPr>
            </a:pPr>
            <a:r>
              <a:t>What remains unresolved</a:t>
            </a:r>
          </a:p>
        </p:txBody>
      </p:sp>
      <p:sp>
        <p:nvSpPr>
          <p:cNvPr id="13" name="TextBox 12"/>
          <p:cNvSpPr txBox="1"/>
          <p:nvPr/>
        </p:nvSpPr>
        <p:spPr>
          <a:xfrm>
            <a:off x="6812280" y="3675887"/>
            <a:ext cx="4663440" cy="2395728"/>
          </a:xfrm>
          <a:prstGeom prst="rect">
            <a:avLst/>
          </a:prstGeom>
          <a:noFill/>
        </p:spPr>
        <p:txBody>
          <a:bodyPr wrap="square" lIns="0" rIns="0" tIns="0" bIns="0">
            <a:spAutoFit/>
          </a:bodyPr>
          <a:lstStyle/>
          <a:p>
            <a:pPr algn="l">
              <a:spcAft>
                <a:spcPts val="400"/>
              </a:spcAft>
              <a:defRPr sz="2500" b="0">
                <a:solidFill>
                  <a:srgbClr val="111111"/>
                </a:solidFill>
                <a:latin typeface="Arial"/>
              </a:defRPr>
            </a:pPr>
            <a:r>
              <a:t>Does the error trigger create</a:t>
            </a:r>
          </a:p>
          <a:p>
            <a:pPr algn="l">
              <a:spcAft>
                <a:spcPts val="400"/>
              </a:spcAft>
              <a:defRPr sz="2500" b="0">
                <a:solidFill>
                  <a:srgbClr val="111111"/>
                </a:solidFill>
                <a:latin typeface="Arial"/>
              </a:defRPr>
            </a:pPr>
            <a:r>
              <a:t>a distinct collective pattern?</a:t>
            </a:r>
          </a:p>
          <a:p>
            <a:pPr algn="l">
              <a:spcAft>
                <a:spcPts val="400"/>
              </a:spcAft>
              <a:defRPr sz="2500" b="0">
                <a:solidFill>
                  <a:srgbClr val="111111"/>
                </a:solidFill>
                <a:latin typeface="Arial"/>
              </a:defRPr>
            </a:pPr>
          </a:p>
          <a:p>
            <a:pPr algn="l">
              <a:spcAft>
                <a:spcPts val="400"/>
              </a:spcAft>
              <a:defRPr sz="2500" b="0">
                <a:solidFill>
                  <a:srgbClr val="111111"/>
                </a:solidFill>
                <a:latin typeface="Arial"/>
              </a:defRPr>
            </a:pPr>
            <a:r>
              <a:t>Does that pattern improve</a:t>
            </a:r>
          </a:p>
          <a:p>
            <a:pPr algn="l">
              <a:spcAft>
                <a:spcPts val="400"/>
              </a:spcAft>
              <a:defRPr sz="2500" b="0">
                <a:solidFill>
                  <a:srgbClr val="111111"/>
                </a:solidFill>
                <a:latin typeface="Arial"/>
              </a:defRPr>
            </a:pPr>
            <a:r>
              <a:t>resource outcomes?</a:t>
            </a:r>
          </a:p>
        </p:txBody>
      </p:sp>
      <p:sp>
        <p:nvSpPr>
          <p:cNvPr id="14" name="Rectangle 13"/>
          <p:cNvSpPr/>
          <p:nvPr/>
        </p:nvSpPr>
        <p:spPr>
          <a:xfrm>
            <a:off x="12298680" y="2743200"/>
            <a:ext cx="5074920" cy="3429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298680" y="2743200"/>
            <a:ext cx="68580" cy="3429000"/>
          </a:xfrm>
          <a:prstGeom prst="rect">
            <a:avLst/>
          </a:prstGeom>
          <a:solidFill>
            <a:srgbClr val="B887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508992" y="2926080"/>
            <a:ext cx="4663440" cy="640080"/>
          </a:xfrm>
          <a:prstGeom prst="rect">
            <a:avLst/>
          </a:prstGeom>
          <a:noFill/>
        </p:spPr>
        <p:txBody>
          <a:bodyPr wrap="square" lIns="0" rIns="0" tIns="0" bIns="0">
            <a:spAutoFit/>
          </a:bodyPr>
          <a:lstStyle/>
          <a:p>
            <a:pPr algn="l">
              <a:spcAft>
                <a:spcPts val="400"/>
              </a:spcAft>
              <a:defRPr sz="3000" b="1">
                <a:solidFill>
                  <a:srgbClr val="111111"/>
                </a:solidFill>
                <a:latin typeface="Arial"/>
              </a:defRPr>
            </a:pPr>
            <a:r>
              <a:t>What the next test needs</a:t>
            </a:r>
          </a:p>
        </p:txBody>
      </p:sp>
      <p:sp>
        <p:nvSpPr>
          <p:cNvPr id="17" name="TextBox 16"/>
          <p:cNvSpPr txBox="1"/>
          <p:nvPr/>
        </p:nvSpPr>
        <p:spPr>
          <a:xfrm>
            <a:off x="12508992" y="3675887"/>
            <a:ext cx="4663440" cy="2395728"/>
          </a:xfrm>
          <a:prstGeom prst="rect">
            <a:avLst/>
          </a:prstGeom>
          <a:noFill/>
        </p:spPr>
        <p:txBody>
          <a:bodyPr wrap="square" lIns="0" rIns="0" tIns="0" bIns="0">
            <a:spAutoFit/>
          </a:bodyPr>
          <a:lstStyle/>
          <a:p>
            <a:pPr algn="l">
              <a:spcAft>
                <a:spcPts val="400"/>
              </a:spcAft>
              <a:defRPr sz="2500" b="0">
                <a:solidFill>
                  <a:srgbClr val="111111"/>
                </a:solidFill>
                <a:latin typeface="Arial"/>
              </a:defRPr>
            </a:pPr>
            <a:r>
              <a:t>Specify the expected</a:t>
            </a:r>
          </a:p>
          <a:p>
            <a:pPr algn="l">
              <a:spcAft>
                <a:spcPts val="400"/>
              </a:spcAft>
              <a:defRPr sz="2500" b="0">
                <a:solidFill>
                  <a:srgbClr val="111111"/>
                </a:solidFill>
                <a:latin typeface="Arial"/>
              </a:defRPr>
            </a:pPr>
            <a:r>
              <a:t>population pattern.</a:t>
            </a:r>
          </a:p>
          <a:p>
            <a:pPr algn="l">
              <a:spcAft>
                <a:spcPts val="400"/>
              </a:spcAft>
              <a:defRPr sz="2500" b="0">
                <a:solidFill>
                  <a:srgbClr val="111111"/>
                </a:solidFill>
                <a:latin typeface="Arial"/>
              </a:defRPr>
            </a:pPr>
          </a:p>
          <a:p>
            <a:pPr algn="l">
              <a:spcAft>
                <a:spcPts val="400"/>
              </a:spcAft>
              <a:defRPr sz="2500" b="0">
                <a:solidFill>
                  <a:srgbClr val="111111"/>
                </a:solidFill>
                <a:latin typeface="Arial"/>
              </a:defRPr>
            </a:pPr>
            <a:r>
              <a:t>Keep matched R0 and</a:t>
            </a:r>
          </a:p>
          <a:p>
            <a:pPr algn="l">
              <a:spcAft>
                <a:spcPts val="400"/>
              </a:spcAft>
              <a:defRPr sz="2500" b="0">
                <a:solidFill>
                  <a:srgbClr val="111111"/>
                </a:solidFill>
                <a:latin typeface="Arial"/>
              </a:defRPr>
            </a:pPr>
            <a:r>
              <a:t>replicate-level uncertainty.</a:t>
            </a:r>
          </a:p>
        </p:txBody>
      </p:sp>
      <p:sp>
        <p:nvSpPr>
          <p:cNvPr id="18" name="TextBox 17"/>
          <p:cNvSpPr txBox="1"/>
          <p:nvPr/>
        </p:nvSpPr>
        <p:spPr>
          <a:xfrm>
            <a:off x="914400" y="6903720"/>
            <a:ext cx="16367759" cy="640080"/>
          </a:xfrm>
          <a:prstGeom prst="rect">
            <a:avLst/>
          </a:prstGeom>
          <a:noFill/>
        </p:spPr>
        <p:txBody>
          <a:bodyPr wrap="square" lIns="0" rIns="0" tIns="0" bIns="0">
            <a:spAutoFit/>
          </a:bodyPr>
          <a:lstStyle/>
          <a:p>
            <a:pPr algn="l">
              <a:spcAft>
                <a:spcPts val="400"/>
              </a:spcAft>
              <a:defRPr sz="3200" b="1">
                <a:solidFill>
                  <a:srgbClr val="111111"/>
                </a:solidFill>
                <a:latin typeface="Arial"/>
              </a:defRPr>
            </a:pPr>
            <a:r>
              <a:t>Feedback I want from you</a:t>
            </a:r>
          </a:p>
        </p:txBody>
      </p:sp>
      <p:sp>
        <p:nvSpPr>
          <p:cNvPr id="19" name="TextBox 18"/>
          <p:cNvSpPr txBox="1"/>
          <p:nvPr/>
        </p:nvSpPr>
        <p:spPr>
          <a:xfrm>
            <a:off x="914400" y="7680960"/>
            <a:ext cx="16276320" cy="1508760"/>
          </a:xfrm>
          <a:prstGeom prst="rect">
            <a:avLst/>
          </a:prstGeom>
          <a:noFill/>
        </p:spPr>
        <p:txBody>
          <a:bodyPr wrap="square" lIns="0" rIns="0" tIns="0" bIns="0">
            <a:spAutoFit/>
          </a:bodyPr>
          <a:lstStyle/>
          <a:p>
            <a:pPr algn="l">
              <a:spcAft>
                <a:spcPts val="400"/>
              </a:spcAft>
              <a:defRPr sz="2900" b="0">
                <a:solidFill>
                  <a:srgbClr val="111111"/>
                </a:solidFill>
                <a:latin typeface="Arial"/>
              </a:defRPr>
            </a:pPr>
            <a:r>
              <a:t>Is the question narrow enough?</a:t>
            </a:r>
          </a:p>
          <a:p>
            <a:pPr algn="l">
              <a:spcAft>
                <a:spcPts val="400"/>
              </a:spcAft>
              <a:defRPr sz="2900" b="0">
                <a:solidFill>
                  <a:srgbClr val="111111"/>
                </a:solidFill>
                <a:latin typeface="Arial"/>
              </a:defRPr>
            </a:pPr>
            <a:r>
              <a:t>Is “collective organization” defined clearly enough to test?</a:t>
            </a:r>
          </a:p>
          <a:p>
            <a:pPr algn="l">
              <a:spcAft>
                <a:spcPts val="400"/>
              </a:spcAft>
              <a:defRPr sz="2900" b="0">
                <a:solidFill>
                  <a:srgbClr val="111111"/>
                </a:solidFill>
                <a:latin typeface="Arial"/>
              </a:defRPr>
            </a:pPr>
            <a:r>
              <a:t>Which link in the mechanism needs the strongest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DAHTBmb3liY</dc:identifier>
  <dcterms:modified xsi:type="dcterms:W3CDTF">2011-08-01T06:04:30Z</dcterms:modified>
  <cp:revision>1</cp:revision>
  <dc:title>Gavin Lip. Cogntive Tools Project Draft</dc:title>
</cp:coreProperties>
</file>